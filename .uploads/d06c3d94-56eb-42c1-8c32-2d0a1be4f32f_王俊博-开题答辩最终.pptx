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60" r:id="rId6"/>
    <p:sldId id="262" r:id="rId7"/>
    <p:sldId id="263" r:id="rId8"/>
    <p:sldId id="264" r:id="rId9"/>
    <p:sldId id="265" r:id="rId10"/>
    <p:sldId id="276" r:id="rId11"/>
    <p:sldId id="268" r:id="rId12"/>
    <p:sldId id="274" r:id="rId13"/>
    <p:sldId id="269" r:id="rId14"/>
    <p:sldId id="272" r:id="rId15"/>
    <p:sldId id="275" r:id="rId16"/>
    <p:sldId id="27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各位老师好，我是数据科学与大数据技术2301班的王俊博，指导教师是于秋野副教授。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我的开题题目是《基于多源异构数据驱动的学术研究智能支持系统的设计与实现》。下面用约五分钟，按背景、目的、内容、技术路线、方法和进度六个部分汇报。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先看背景。科研结论由文献、代码修订和实验产物三类数据共同驱动，但它们形态不同、来源分散。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现有工作分三条线，见文献[1]到[10]，但普遍缺少两环：一是统一登记与来源追踪，二是状态机约束与独立评估。所以结论一旦出问题，就很难回溯到具体输入。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针对这一不足，我要回答三个问题：结论能否追溯到具体输入？模型能否被阻止自报分数、改写观察？“搜索中看起来好”能否与“独立确认后成立”区分？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对应三个目标：可追溯、不可自报、可区分，最终让 LLM 参与的科研结论可核对、过程可审计。理论上把科研规范形式化，实践上降低个人研究者的门槛。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研究内容分四项任务。任务一做输入登记与证据化；任务二是核心，即科研对象与状态机，每类对象只有一个权威写入方，智能体只能提议；任务三做隔离执行与独立评估。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任务四是系统实现与验证，作为平台支撑前三项，并通过故障注入检验内核约束是否生效。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任务一拟设计分源登记。文献记录查询范围、来源和全文可达性，不可达的保持未验证；代码以不可变修订和 SHA-256 摘要登记；实验产物按训练、开发、确认三种角色登记，确认集封存。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三类输入只以摘要关联到科研对象，不合并成一段文本直接生成结论。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任务二是写入边界。智能体只能提议，内核先检查是否为合法转移、是否持有写入凭据，合法后才由唯一写入方写入。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比如实验设计冻结后不可更改，运行有明确终态。非法转移会整体回滚。每次权威写入都追加到事件哈希链，便于事后核对。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任务三把搜索和确认分开。搜索阶段只用开发数据多轮迭代；然后冻结预注册设计与阈值；确认数据签名封存，只打开一次，不回到搜索复用。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评分由独立评估器重算，按预注册阈值给出支持、反驳或证据不足三种判断，执行未完成记为未评估。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>
                <a:latin typeface="Noto Sans CJK SC"/>
                <a:ea typeface="Noto Sans CJK SC"/>
                <a:sym typeface="+mn-ea"/>
              </a:rPr>
              <a:t>任务四强调交付边界：工作台和 LLM 只把动作或结构化提议交给内核，界面不直接写科研事实。内核负责裁决和签发写入凭据，但不是全部事实的唯一写入方。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  <a:sym typeface="+mn-ea"/>
              </a:rPr>
              <a:t>研究存储写研究、假设、设计和决策；独立评估写观察和判断；编排控制器写运行和声明。工程验证挂在这些路径上，科研验证在冻结协议下给出支持、反驳或证据不足；对照只比协议遵守与证据绑定。</a:t>
            </a:r>
            <a:endParaRPr lang="zh-CN">
              <a:latin typeface="Noto Sans CJK SC"/>
              <a:ea typeface="Noto Sans CJK SC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技术路线是拟设计的五层架构：工作台和命令行只提交动作，仅本机访问；科研内核负责裁决和写入；执行评估层隔离运行；存储用 SQLite 事务加内容寻址文件。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LLM 通过可替换的兼容接口接入，只输出提议。研究思路是先输入后内核、先内核后界面。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这一页展开智能体架构，也是拟设计。内核先给出研究状态和合法动作集，LLM 策略经兼容端点只做选择，没有密钥时退回确定性策略；提议以 JSON 契约提交。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内核检查转移是否合法、预算能否预留，通过后才授权受控工具在沙箱执行，分数由独立评估重算，回执写回状态进入下一轮；不通过就整体回滚、退回合法动作集。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研究方法上，每种手段都对应可检验的标准。文献调研提炼现有系统的不足；模块化设计要求接口契约可自动校验；故障注入检验非法转移被拒、幂等、崩溃可恢复、篡改可检出。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最后在冻结协议下，拟以数值计算、公开数据分析和机制比较三类任务做科研验证；未通过就返回修改设计。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进度按七个阶段推进。现在是秋季学期第8周开题；第9到13周做接口设计与登记方式，第14到19周实现内核并完成初稿。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寒假后春季学期完成智能体与执行链路、测试实验、评阅答辩和终稿归档。预期成果包括原型系统、登记与接口规范、工程测试报告、验证结论和毕业论文，目前均为预期。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进度按七个阶段推进。现在是秋季学期第8周开题；第9到13周做接口设计与登记方式，第14到19周实现内核并完成初稿。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寒假后春季学期完成智能体与执行链路、测试实验、评阅答辩和终稿归档。预期成果包括原型系统、登记与接口规范、工程测试报告、验证结论和毕业论文，目前均为预期。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latin typeface="Noto Sans CJK SC"/>
                <a:ea typeface="Noto Sans CJK SC"/>
              </a:rPr>
              <a:t>以上是我的开题汇报，感谢指导教师于秋野老师的指导。</a:t>
            </a:r>
            <a:endParaRPr lang="zh-CN">
              <a:latin typeface="Noto Sans CJK SC"/>
              <a:ea typeface="Noto Sans CJK SC"/>
            </a:endParaRPr>
          </a:p>
          <a:p>
            <a:r>
              <a:rPr lang="zh-CN">
                <a:latin typeface="Noto Sans CJK SC"/>
                <a:ea typeface="Noto Sans CJK SC"/>
              </a:rPr>
              <a:t>感谢各位老师的聆听，敬请批评指正。</a:t>
            </a:r>
            <a:endParaRPr lang="zh-CN">
              <a:latin typeface="Noto Sans CJK SC"/>
              <a:ea typeface="Noto Sans CJK SC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06375"/>
          </a:xfrm>
          <a:prstGeom prst="rect">
            <a:avLst/>
          </a:prstGeom>
          <a:solidFill>
            <a:srgbClr val="1E4FA8"/>
          </a:solidFill>
        </p:spPr>
      </p:sp>
      <p:pic>
        <p:nvPicPr>
          <p:cNvPr id="3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585" y="340360"/>
            <a:ext cx="2643014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0" y="397002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人工智能学院</a:t>
            </a:r>
            <a:endParaRPr lang="en-US" sz="1500" dirty="0"/>
          </a:p>
        </p:txBody>
      </p:sp>
      <p:pic>
        <p:nvPicPr>
          <p:cNvPr id="5" name="Image 1" descr="/workspace/kaiti/research/img/campus_pano.jpe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1024128"/>
            <a:ext cx="12191695" cy="2514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3538728"/>
            <a:ext cx="12191695" cy="64008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8" name="Text 4"/>
          <p:cNvSpPr/>
          <p:nvPr/>
        </p:nvSpPr>
        <p:spPr>
          <a:xfrm>
            <a:off x="731520" y="3632835"/>
            <a:ext cx="10728960" cy="1469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</a:t>
            </a:r>
            <a:endParaRPr lang="en-US" sz="3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学术研究智能支持系统的设计与实现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731520" y="4774565"/>
            <a:ext cx="10728960" cy="765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Design and Implementation of an Intelligent Academic Research Support System Driven by Multi-Source Heterogeneous Data</a:t>
            </a:r>
            <a:endParaRPr lang="en-US" sz="1200" b="1" dirty="0">
              <a:solidFill>
                <a:srgbClr val="6B7280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069848" y="56875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学生姓名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069848" y="5998464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王俊博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3172968" y="5760720"/>
            <a:ext cx="0" cy="566928"/>
          </a:xfrm>
          <a:prstGeom prst="line">
            <a:avLst/>
          </a:prstGeom>
          <a:noFill/>
          <a:ln w="12700">
            <a:solidFill>
              <a:srgbClr val="C9D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172968" y="56875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学号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172968" y="599846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2023000287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367528" y="5760720"/>
            <a:ext cx="0" cy="566928"/>
          </a:xfrm>
          <a:prstGeom prst="line">
            <a:avLst/>
          </a:prstGeom>
          <a:noFill/>
          <a:ln w="12700">
            <a:solidFill>
              <a:srgbClr val="C9D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67528" y="568756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指导教师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367528" y="599846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于秋野 副教授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7744968" y="5760720"/>
            <a:ext cx="0" cy="566928"/>
          </a:xfrm>
          <a:prstGeom prst="line">
            <a:avLst/>
          </a:prstGeom>
          <a:noFill/>
          <a:ln w="12700">
            <a:solidFill>
              <a:srgbClr val="C9D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44968" y="568756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班级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744968" y="5998464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数据科学与大数据技术2301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4FA8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29159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· 研究背景与现状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2" name="Text 9"/>
          <p:cNvSpPr/>
          <p:nvPr/>
        </p:nvSpPr>
        <p:spPr>
          <a:xfrm>
            <a:off x="713232" y="914400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研究背景与现状：三类数据共同驱动结论，现有系统缺少统一登记与独立约束</a:t>
            </a:r>
            <a:endParaRPr lang="en-US" sz="1900" dirty="0"/>
          </a:p>
        </p:txBody>
      </p:sp>
      <p:sp>
        <p:nvSpPr>
          <p:cNvPr id="200" name="inputs"/>
          <p:cNvSpPr/>
          <p:nvPr/>
        </p:nvSpPr>
        <p:spPr>
          <a:xfrm>
            <a:off x="502920" y="1828800"/>
            <a:ext cx="1600200" cy="1920240"/>
          </a:xfrm>
          <a:prstGeom prst="rect">
            <a:avLst/>
          </a:prstGeom>
          <a:solidFill>
            <a:srgbClr val="F2F5F6"/>
          </a:solidFill>
          <a:ln w="9525">
            <a:solidFill>
              <a:srgbClr val="A6B4B9"/>
            </a:solidFill>
            <a:prstDash val="solid"/>
          </a:ln>
        </p:spPr>
      </p:sp>
      <p:sp>
        <p:nvSpPr>
          <p:cNvPr id="201" name="inputs_title"/>
          <p:cNvSpPr/>
          <p:nvPr/>
        </p:nvSpPr>
        <p:spPr>
          <a:xfrm>
            <a:off x="502920" y="1865376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多源异构数据</a:t>
            </a:r>
            <a:endParaRPr lang="en-US" sz="1150" dirty="0"/>
          </a:p>
        </p:txBody>
      </p:sp>
      <p:sp>
        <p:nvSpPr>
          <p:cNvPr id="202" name="in_0"/>
          <p:cNvSpPr/>
          <p:nvPr/>
        </p:nvSpPr>
        <p:spPr>
          <a:xfrm>
            <a:off x="594360" y="2212848"/>
            <a:ext cx="1417320" cy="384048"/>
          </a:xfrm>
          <a:prstGeom prst="foldedCorner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03" name="in_0_t"/>
          <p:cNvSpPr/>
          <p:nvPr/>
        </p:nvSpPr>
        <p:spPr>
          <a:xfrm>
            <a:off x="594360" y="221284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</a:t>
            </a:r>
            <a:endParaRPr lang="en-US" sz="1150" dirty="0"/>
          </a:p>
        </p:txBody>
      </p:sp>
      <p:sp>
        <p:nvSpPr>
          <p:cNvPr id="204" name="in_1"/>
          <p:cNvSpPr/>
          <p:nvPr/>
        </p:nvSpPr>
        <p:spPr>
          <a:xfrm>
            <a:off x="594360" y="2706624"/>
            <a:ext cx="1417320" cy="384048"/>
          </a:xfrm>
          <a:prstGeom prst="foldedCorner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05" name="in_1_t"/>
          <p:cNvSpPr/>
          <p:nvPr/>
        </p:nvSpPr>
        <p:spPr>
          <a:xfrm>
            <a:off x="594360" y="2706624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代码修订</a:t>
            </a:r>
            <a:endParaRPr lang="en-US" sz="1150" dirty="0"/>
          </a:p>
        </p:txBody>
      </p:sp>
      <p:sp>
        <p:nvSpPr>
          <p:cNvPr id="206" name="in_2"/>
          <p:cNvSpPr/>
          <p:nvPr/>
        </p:nvSpPr>
        <p:spPr>
          <a:xfrm>
            <a:off x="594360" y="3200400"/>
            <a:ext cx="1417320" cy="384048"/>
          </a:xfrm>
          <a:prstGeom prst="foldedCorner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07" name="in_2_t"/>
          <p:cNvSpPr/>
          <p:nvPr/>
        </p:nvSpPr>
        <p:spPr>
          <a:xfrm>
            <a:off x="594360" y="320040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实验产物</a:t>
            </a:r>
            <a:endParaRPr lang="en-US" sz="1150" dirty="0"/>
          </a:p>
        </p:txBody>
      </p:sp>
      <p:sp>
        <p:nvSpPr>
          <p:cNvPr id="208" name="tag_a"/>
          <p:cNvSpPr/>
          <p:nvPr/>
        </p:nvSpPr>
        <p:spPr>
          <a:xfrm>
            <a:off x="1253363" y="1572768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209" name="in_to_flow"/>
          <p:cNvSpPr/>
          <p:nvPr/>
        </p:nvSpPr>
        <p:spPr>
          <a:xfrm>
            <a:off x="2103120" y="2788920"/>
            <a:ext cx="36576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0" name="flow"/>
          <p:cNvSpPr/>
          <p:nvPr/>
        </p:nvSpPr>
        <p:spPr>
          <a:xfrm>
            <a:off x="2468880" y="233172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11" name="flow_label"/>
          <p:cNvSpPr/>
          <p:nvPr/>
        </p:nvSpPr>
        <p:spPr>
          <a:xfrm>
            <a:off x="2435860" y="2447036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科研流程</a:t>
            </a:r>
            <a:endParaRPr lang="en-US" sz="1400" dirty="0"/>
          </a:p>
        </p:txBody>
      </p:sp>
      <p:sp>
        <p:nvSpPr>
          <p:cNvPr id="212" name="flow_sub"/>
          <p:cNvSpPr/>
          <p:nvPr/>
        </p:nvSpPr>
        <p:spPr>
          <a:xfrm>
            <a:off x="2468880" y="2807208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假设提出 → 实验执行 → 结论形成</a:t>
            </a:r>
            <a:endParaRPr lang="en-US" sz="1150" dirty="0"/>
          </a:p>
        </p:txBody>
      </p:sp>
      <p:sp>
        <p:nvSpPr>
          <p:cNvPr id="213" name="flow_to_gap"/>
          <p:cNvSpPr/>
          <p:nvPr/>
        </p:nvSpPr>
        <p:spPr>
          <a:xfrm>
            <a:off x="5486400" y="2788920"/>
            <a:ext cx="411480" cy="0"/>
          </a:xfrm>
          <a:prstGeom prst="line">
            <a:avLst/>
          </a:prstGeom>
          <a:noFill/>
          <a:ln w="22225">
            <a:solidFill>
              <a:srgbClr val="9B4D32"/>
            </a:solidFill>
            <a:prstDash val="dash"/>
            <a:tailEnd type="triangle"/>
          </a:ln>
        </p:spPr>
      </p:sp>
      <p:sp>
        <p:nvSpPr>
          <p:cNvPr id="214" name="gap"/>
          <p:cNvSpPr/>
          <p:nvPr/>
        </p:nvSpPr>
        <p:spPr>
          <a:xfrm>
            <a:off x="5897880" y="1828800"/>
            <a:ext cx="2834640" cy="1920240"/>
          </a:xfrm>
          <a:prstGeom prst="roundRect">
            <a:avLst>
              <a:gd name="adj" fmla="val 5714"/>
            </a:avLst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15" name="gap_title"/>
          <p:cNvSpPr/>
          <p:nvPr/>
        </p:nvSpPr>
        <p:spPr>
          <a:xfrm>
            <a:off x="5897880" y="1920240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现有系统缺少的环节</a:t>
            </a:r>
            <a:endParaRPr lang="en-US" sz="1500" dirty="0"/>
          </a:p>
        </p:txBody>
      </p:sp>
      <p:sp>
        <p:nvSpPr>
          <p:cNvPr id="216" name="gap_s1"/>
          <p:cNvSpPr/>
          <p:nvPr/>
        </p:nvSpPr>
        <p:spPr>
          <a:xfrm>
            <a:off x="6172200" y="2414016"/>
            <a:ext cx="228600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7" name="gap_s1_t"/>
          <p:cNvSpPr/>
          <p:nvPr/>
        </p:nvSpPr>
        <p:spPr>
          <a:xfrm>
            <a:off x="6172200" y="2414016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统一登记与来源追踪</a:t>
            </a:r>
            <a:endParaRPr lang="en-US" sz="1150" dirty="0"/>
          </a:p>
        </p:txBody>
      </p:sp>
      <p:sp>
        <p:nvSpPr>
          <p:cNvPr id="218" name="gap_s2"/>
          <p:cNvSpPr/>
          <p:nvPr/>
        </p:nvSpPr>
        <p:spPr>
          <a:xfrm>
            <a:off x="6172200" y="2852928"/>
            <a:ext cx="228600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9" name="gap_s2_t"/>
          <p:cNvSpPr/>
          <p:nvPr/>
        </p:nvSpPr>
        <p:spPr>
          <a:xfrm>
            <a:off x="6172200" y="285292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状态机约束与独立评估</a:t>
            </a:r>
            <a:endParaRPr lang="en-US" sz="1150" dirty="0"/>
          </a:p>
        </p:txBody>
      </p:sp>
      <p:sp>
        <p:nvSpPr>
          <p:cNvPr id="220" name="gap_note"/>
          <p:cNvSpPr/>
          <p:nvPr/>
        </p:nvSpPr>
        <p:spPr>
          <a:xfrm>
            <a:off x="5897880" y="3273552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结论写入不受约束</a:t>
            </a:r>
            <a:endParaRPr lang="en-US" sz="1150" dirty="0"/>
          </a:p>
        </p:txBody>
      </p:sp>
      <p:sp>
        <p:nvSpPr>
          <p:cNvPr id="221" name="tag_b"/>
          <p:cNvSpPr/>
          <p:nvPr/>
        </p:nvSpPr>
        <p:spPr>
          <a:xfrm>
            <a:off x="8778240" y="226949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150" dirty="0"/>
          </a:p>
        </p:txBody>
      </p:sp>
      <p:sp>
        <p:nvSpPr>
          <p:cNvPr id="222" name="tag_c"/>
          <p:cNvSpPr/>
          <p:nvPr/>
        </p:nvSpPr>
        <p:spPr>
          <a:xfrm>
            <a:off x="8778240" y="306324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150" dirty="0"/>
          </a:p>
        </p:txBody>
      </p:sp>
      <p:sp>
        <p:nvSpPr>
          <p:cNvPr id="223" name="gap_to_claim"/>
          <p:cNvSpPr/>
          <p:nvPr/>
        </p:nvSpPr>
        <p:spPr>
          <a:xfrm>
            <a:off x="8732520" y="2788920"/>
            <a:ext cx="411480" cy="0"/>
          </a:xfrm>
          <a:prstGeom prst="line">
            <a:avLst/>
          </a:prstGeom>
          <a:noFill/>
          <a:ln w="22225">
            <a:solidFill>
              <a:srgbClr val="9B4D32"/>
            </a:solidFill>
            <a:prstDash val="dash"/>
            <a:tailEnd type="triangle"/>
          </a:ln>
        </p:spPr>
      </p:sp>
      <p:sp>
        <p:nvSpPr>
          <p:cNvPr id="224" name="claim"/>
          <p:cNvSpPr/>
          <p:nvPr/>
        </p:nvSpPr>
        <p:spPr>
          <a:xfrm>
            <a:off x="9144000" y="2240280"/>
            <a:ext cx="1508760" cy="1097280"/>
          </a:xfrm>
          <a:prstGeom prst="flowChartDocument">
            <a:avLst/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25" name="claim_label"/>
          <p:cNvSpPr/>
          <p:nvPr/>
        </p:nvSpPr>
        <p:spPr>
          <a:xfrm>
            <a:off x="9144000" y="2418461"/>
            <a:ext cx="1508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科研结论</a:t>
            </a:r>
            <a:endParaRPr lang="en-US" sz="1400" dirty="0"/>
          </a:p>
        </p:txBody>
      </p:sp>
      <p:sp>
        <p:nvSpPr>
          <p:cNvPr id="226" name="claim_sub"/>
          <p:cNvSpPr/>
          <p:nvPr/>
        </p:nvSpPr>
        <p:spPr>
          <a:xfrm>
            <a:off x="9144000" y="2782443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分数 · 引用 · 表述</a:t>
            </a:r>
            <a:endParaRPr lang="en-US" sz="1150" dirty="0"/>
          </a:p>
        </p:txBody>
      </p:sp>
      <p:sp>
        <p:nvSpPr>
          <p:cNvPr id="227" name="claim_note"/>
          <p:cNvSpPr/>
          <p:nvPr/>
        </p:nvSpPr>
        <p:spPr>
          <a:xfrm>
            <a:off x="10771632" y="2377440"/>
            <a:ext cx="9601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难以核对到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原始输入</a:t>
            </a:r>
            <a:endParaRPr lang="en-US" sz="1150" dirty="0"/>
          </a:p>
        </p:txBody>
      </p:sp>
      <p:sp>
        <p:nvSpPr>
          <p:cNvPr id="228" name="line_0"/>
          <p:cNvSpPr/>
          <p:nvPr/>
        </p:nvSpPr>
        <p:spPr>
          <a:xfrm>
            <a:off x="914400" y="4096512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29" name="line_0_t"/>
          <p:cNvSpPr/>
          <p:nvPr/>
        </p:nvSpPr>
        <p:spPr>
          <a:xfrm>
            <a:off x="1668653" y="4096512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自主科研智能体</a:t>
            </a:r>
            <a:endParaRPr lang="en-US" sz="1150" dirty="0"/>
          </a:p>
        </p:txBody>
      </p:sp>
      <p:sp>
        <p:nvSpPr>
          <p:cNvPr id="231" name="line_0_up"/>
          <p:cNvSpPr/>
          <p:nvPr/>
        </p:nvSpPr>
        <p:spPr>
          <a:xfrm>
            <a:off x="2308860" y="3913632"/>
            <a:ext cx="0" cy="182880"/>
          </a:xfrm>
          <a:prstGeom prst="line">
            <a:avLst/>
          </a:prstGeom>
          <a:noFill/>
          <a:ln w="12700">
            <a:solidFill>
              <a:srgbClr val="52636A"/>
            </a:solidFill>
            <a:prstDash val="solid"/>
          </a:ln>
        </p:spPr>
      </p:sp>
      <p:sp>
        <p:nvSpPr>
          <p:cNvPr id="232" name="line_1"/>
          <p:cNvSpPr/>
          <p:nvPr/>
        </p:nvSpPr>
        <p:spPr>
          <a:xfrm>
            <a:off x="3840480" y="4096512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33" name="line_1_t"/>
          <p:cNvSpPr/>
          <p:nvPr/>
        </p:nvSpPr>
        <p:spPr>
          <a:xfrm>
            <a:off x="4448048" y="4096512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检索增强生成与幻觉</a:t>
            </a:r>
            <a:endParaRPr lang="en-US" sz="1150" dirty="0"/>
          </a:p>
        </p:txBody>
      </p:sp>
      <p:sp>
        <p:nvSpPr>
          <p:cNvPr id="235" name="line_1_up"/>
          <p:cNvSpPr/>
          <p:nvPr/>
        </p:nvSpPr>
        <p:spPr>
          <a:xfrm>
            <a:off x="5234940" y="3913632"/>
            <a:ext cx="0" cy="182880"/>
          </a:xfrm>
          <a:prstGeom prst="line">
            <a:avLst/>
          </a:prstGeom>
          <a:noFill/>
          <a:ln w="12700">
            <a:solidFill>
              <a:srgbClr val="52636A"/>
            </a:solidFill>
            <a:prstDash val="solid"/>
          </a:ln>
        </p:spPr>
      </p:sp>
      <p:sp>
        <p:nvSpPr>
          <p:cNvPr id="236" name="line_2"/>
          <p:cNvSpPr/>
          <p:nvPr/>
        </p:nvSpPr>
        <p:spPr>
          <a:xfrm>
            <a:off x="6767195" y="4096512"/>
            <a:ext cx="2788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37" name="line_2_t"/>
          <p:cNvSpPr/>
          <p:nvPr/>
        </p:nvSpPr>
        <p:spPr>
          <a:xfrm>
            <a:off x="7374763" y="4096512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数据溯源与证据链</a:t>
            </a:r>
            <a:endParaRPr lang="en-US" sz="1150" dirty="0"/>
          </a:p>
        </p:txBody>
      </p:sp>
      <p:sp>
        <p:nvSpPr>
          <p:cNvPr id="238" name="line_2_r"/>
          <p:cNvSpPr/>
          <p:nvPr/>
        </p:nvSpPr>
        <p:spPr>
          <a:xfrm>
            <a:off x="8458200" y="4096512"/>
            <a:ext cx="9875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endParaRPr lang="en-US" sz="1150" dirty="0"/>
          </a:p>
        </p:txBody>
      </p:sp>
      <p:sp>
        <p:nvSpPr>
          <p:cNvPr id="239" name="line_2_up"/>
          <p:cNvSpPr/>
          <p:nvPr/>
        </p:nvSpPr>
        <p:spPr>
          <a:xfrm>
            <a:off x="8161020" y="3913632"/>
            <a:ext cx="0" cy="182880"/>
          </a:xfrm>
          <a:prstGeom prst="line">
            <a:avLst/>
          </a:prstGeom>
          <a:noFill/>
          <a:ln w="12700">
            <a:solidFill>
              <a:srgbClr val="52636A"/>
            </a:solidFill>
            <a:prstDash val="solid"/>
          </a:ln>
        </p:spPr>
      </p:sp>
      <p:sp>
        <p:nvSpPr>
          <p:cNvPr id="240" name="lines_bus"/>
          <p:cNvSpPr/>
          <p:nvPr/>
        </p:nvSpPr>
        <p:spPr>
          <a:xfrm>
            <a:off x="2308860" y="3913632"/>
            <a:ext cx="5852160" cy="0"/>
          </a:xfrm>
          <a:prstGeom prst="line">
            <a:avLst/>
          </a:prstGeom>
          <a:noFill/>
          <a:ln w="12700">
            <a:solidFill>
              <a:srgbClr val="52636A"/>
            </a:solidFill>
            <a:prstDash val="solid"/>
          </a:ln>
        </p:spPr>
      </p:sp>
      <p:sp>
        <p:nvSpPr>
          <p:cNvPr id="241" name="lines_to_gap"/>
          <p:cNvSpPr/>
          <p:nvPr/>
        </p:nvSpPr>
        <p:spPr>
          <a:xfrm>
            <a:off x="7315200" y="3749040"/>
            <a:ext cx="0" cy="164592"/>
          </a:xfrm>
          <a:prstGeom prst="line">
            <a:avLst/>
          </a:prstGeom>
          <a:noFill/>
          <a:ln w="15875">
            <a:solidFill>
              <a:srgbClr val="52636A"/>
            </a:solidFill>
            <a:prstDash val="solid"/>
            <a:headEnd type="triangle"/>
          </a:ln>
        </p:spPr>
      </p:sp>
      <p:sp>
        <p:nvSpPr>
          <p:cNvPr id="242" name="lines_note"/>
          <p:cNvSpPr/>
          <p:nvPr/>
        </p:nvSpPr>
        <p:spPr>
          <a:xfrm>
            <a:off x="2683510" y="3599180"/>
            <a:ext cx="204152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三条研究线均未覆盖上方两环</a:t>
            </a:r>
            <a:endParaRPr lang="en-US" sz="1150" dirty="0"/>
          </a:p>
        </p:txBody>
      </p:sp>
      <p:sp>
        <p:nvSpPr>
          <p:cNvPr id="243" name="trace_back_0"/>
          <p:cNvSpPr/>
          <p:nvPr/>
        </p:nvSpPr>
        <p:spPr>
          <a:xfrm>
            <a:off x="9898380" y="3337560"/>
            <a:ext cx="0" cy="1508760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</a:ln>
        </p:spPr>
      </p:sp>
      <p:sp>
        <p:nvSpPr>
          <p:cNvPr id="244" name="trace_back_1"/>
          <p:cNvSpPr/>
          <p:nvPr/>
        </p:nvSpPr>
        <p:spPr>
          <a:xfrm>
            <a:off x="702310" y="4846320"/>
            <a:ext cx="9212580" cy="0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</a:ln>
        </p:spPr>
      </p:sp>
      <p:sp>
        <p:nvSpPr>
          <p:cNvPr id="245" name="trace_back_2"/>
          <p:cNvSpPr/>
          <p:nvPr/>
        </p:nvSpPr>
        <p:spPr>
          <a:xfrm>
            <a:off x="710565" y="3749040"/>
            <a:ext cx="0" cy="1097280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  <a:headEnd type="triangle"/>
          </a:ln>
        </p:spPr>
      </p:sp>
      <p:sp>
        <p:nvSpPr>
          <p:cNvPr id="246" name="break_mark"/>
          <p:cNvSpPr/>
          <p:nvPr/>
        </p:nvSpPr>
        <p:spPr>
          <a:xfrm>
            <a:off x="9742932" y="414223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4D32"/>
            </a:solidFill>
            <a:prstDash val="solid"/>
          </a:ln>
        </p:spPr>
      </p:sp>
      <p:sp>
        <p:nvSpPr>
          <p:cNvPr id="247" name="break_mark_t"/>
          <p:cNvSpPr/>
          <p:nvPr/>
        </p:nvSpPr>
        <p:spPr>
          <a:xfrm>
            <a:off x="9742932" y="41422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×</a:t>
            </a:r>
            <a:endParaRPr lang="en-US" sz="1300" dirty="0"/>
          </a:p>
        </p:txBody>
      </p:sp>
      <p:sp>
        <p:nvSpPr>
          <p:cNvPr id="248" name="trace_label"/>
          <p:cNvSpPr/>
          <p:nvPr/>
        </p:nvSpPr>
        <p:spPr>
          <a:xfrm>
            <a:off x="3966845" y="4928235"/>
            <a:ext cx="266255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分数、引用与结论无法回溯到冻结输入</a:t>
            </a:r>
            <a:endParaRPr lang="en-US" sz="1150" dirty="0"/>
          </a:p>
        </p:txBody>
      </p:sp>
      <p:sp>
        <p:nvSpPr>
          <p:cNvPr id="249" name="detail_rule"/>
          <p:cNvSpPr/>
          <p:nvPr/>
        </p:nvSpPr>
        <p:spPr>
          <a:xfrm>
            <a:off x="502920" y="5285232"/>
            <a:ext cx="1122883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250" name="detail_a_head"/>
          <p:cNvSpPr/>
          <p:nvPr/>
        </p:nvSpPr>
        <p:spPr>
          <a:xfrm>
            <a:off x="502920" y="5432679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背景：形态不同、来源分散</a:t>
            </a:r>
            <a:endParaRPr lang="en-US" sz="1200" dirty="0"/>
          </a:p>
        </p:txBody>
      </p:sp>
      <p:sp>
        <p:nvSpPr>
          <p:cNvPr id="251" name="detail_a_body"/>
          <p:cNvSpPr/>
          <p:nvPr/>
        </p:nvSpPr>
        <p:spPr>
          <a:xfrm>
            <a:off x="502920" y="5801360"/>
            <a:ext cx="3548380" cy="4806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文献、代码修订与实验产物形态不同、来源分散，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却共同驱动假设提出、实验执行与结论形成</a:t>
            </a:r>
            <a:endParaRPr lang="en-US" sz="1100" dirty="0"/>
          </a:p>
        </p:txBody>
      </p:sp>
      <p:sp>
        <p:nvSpPr>
          <p:cNvPr id="252" name="detail_b_head"/>
          <p:cNvSpPr/>
          <p:nvPr/>
        </p:nvSpPr>
        <p:spPr>
          <a:xfrm>
            <a:off x="4337304" y="5424424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不足一：缺统一登记与来源追踪</a:t>
            </a:r>
            <a:endParaRPr lang="en-US" sz="1200" dirty="0"/>
          </a:p>
        </p:txBody>
      </p:sp>
      <p:sp>
        <p:nvSpPr>
          <p:cNvPr id="253" name="detail_b_body"/>
          <p:cNvSpPr/>
          <p:nvPr/>
        </p:nvSpPr>
        <p:spPr>
          <a:xfrm>
            <a:off x="4337304" y="5793105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三类输入未分源登记，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结论难以核对到原始输入与运行工件</a:t>
            </a:r>
            <a:endParaRPr lang="en-US" sz="1100" dirty="0"/>
          </a:p>
        </p:txBody>
      </p:sp>
      <p:sp>
        <p:nvSpPr>
          <p:cNvPr id="254" name="detail_c_head"/>
          <p:cNvSpPr/>
          <p:nvPr/>
        </p:nvSpPr>
        <p:spPr>
          <a:xfrm>
            <a:off x="8171688" y="5432679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 不足二：缺状态机约束与独立评估</a:t>
            </a:r>
            <a:endParaRPr lang="en-US" sz="1200" dirty="0"/>
          </a:p>
        </p:txBody>
      </p:sp>
      <p:sp>
        <p:nvSpPr>
          <p:cNvPr id="255" name="detail_c_body"/>
          <p:cNvSpPr/>
          <p:nvPr/>
        </p:nvSpPr>
        <p:spPr>
          <a:xfrm>
            <a:off x="8171688" y="5801360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引入大语言模型却缺少约束与独立评估，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分数、引用与结论性表述无法回溯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38684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· 研究目的与意义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2" name="Text 9"/>
          <p:cNvSpPr/>
          <p:nvPr/>
        </p:nvSpPr>
        <p:spPr>
          <a:xfrm>
            <a:off x="713232" y="962025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研究目的与意义：让 LLM 参与的科研结论可核对、过程可审计</a:t>
            </a:r>
            <a:endParaRPr lang="en-US" sz="1900" dirty="0"/>
          </a:p>
        </p:txBody>
      </p:sp>
      <p:sp>
        <p:nvSpPr>
          <p:cNvPr id="200" name="q_title"/>
          <p:cNvSpPr/>
          <p:nvPr/>
        </p:nvSpPr>
        <p:spPr>
          <a:xfrm>
            <a:off x="1097280" y="1627632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要解决的问题</a:t>
            </a:r>
            <a:endParaRPr lang="en-US" sz="1400" dirty="0"/>
          </a:p>
        </p:txBody>
      </p:sp>
      <p:sp>
        <p:nvSpPr>
          <p:cNvPr id="201" name="g_title"/>
          <p:cNvSpPr/>
          <p:nvPr/>
        </p:nvSpPr>
        <p:spPr>
          <a:xfrm>
            <a:off x="6217920" y="162763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对应目标</a:t>
            </a:r>
            <a:endParaRPr lang="en-US" sz="1400" dirty="0"/>
          </a:p>
        </p:txBody>
      </p:sp>
      <p:sp>
        <p:nvSpPr>
          <p:cNvPr id="202" name="q0_num"/>
          <p:cNvSpPr/>
          <p:nvPr/>
        </p:nvSpPr>
        <p:spPr>
          <a:xfrm>
            <a:off x="502920" y="2131695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363D"/>
            </a:solidFill>
            <a:prstDash val="solid"/>
          </a:ln>
        </p:spPr>
      </p:sp>
      <p:sp>
        <p:nvSpPr>
          <p:cNvPr id="203" name="q0_num_t"/>
          <p:cNvSpPr/>
          <p:nvPr/>
        </p:nvSpPr>
        <p:spPr>
          <a:xfrm>
            <a:off x="502920" y="2131695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400" dirty="0"/>
          </a:p>
        </p:txBody>
      </p:sp>
      <p:sp>
        <p:nvSpPr>
          <p:cNvPr id="204" name="q0"/>
          <p:cNvSpPr/>
          <p:nvPr/>
        </p:nvSpPr>
        <p:spPr>
          <a:xfrm>
            <a:off x="1097280" y="2012823"/>
            <a:ext cx="4663440" cy="640080"/>
          </a:xfrm>
          <a:prstGeom prst="rect">
            <a:avLst/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05" name="q0_label"/>
          <p:cNvSpPr/>
          <p:nvPr/>
        </p:nvSpPr>
        <p:spPr>
          <a:xfrm>
            <a:off x="1261872" y="2060829"/>
            <a:ext cx="433425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结论能否追溯到具体输入？</a:t>
            </a:r>
            <a:endParaRPr lang="en-US" sz="1400" dirty="0"/>
          </a:p>
        </p:txBody>
      </p:sp>
      <p:sp>
        <p:nvSpPr>
          <p:cNvPr id="206" name="q0_sub"/>
          <p:cNvSpPr/>
          <p:nvPr/>
        </p:nvSpPr>
        <p:spPr>
          <a:xfrm>
            <a:off x="1261872" y="2351151"/>
            <a:ext cx="43342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文献版本 · 代码修订 · 数据快照</a:t>
            </a:r>
            <a:endParaRPr lang="en-US" sz="1150" dirty="0"/>
          </a:p>
        </p:txBody>
      </p:sp>
      <p:sp>
        <p:nvSpPr>
          <p:cNvPr id="207" name="q0_to_g"/>
          <p:cNvSpPr/>
          <p:nvPr/>
        </p:nvSpPr>
        <p:spPr>
          <a:xfrm>
            <a:off x="5760720" y="2332863"/>
            <a:ext cx="45720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08" name="g0"/>
          <p:cNvSpPr/>
          <p:nvPr/>
        </p:nvSpPr>
        <p:spPr>
          <a:xfrm>
            <a:off x="6217920" y="2012823"/>
            <a:ext cx="3108960" cy="64008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09" name="g0_label"/>
          <p:cNvSpPr/>
          <p:nvPr/>
        </p:nvSpPr>
        <p:spPr>
          <a:xfrm>
            <a:off x="6217920" y="2051304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1 · 可追溯</a:t>
            </a:r>
            <a:endParaRPr lang="en-US" sz="1400" dirty="0"/>
          </a:p>
        </p:txBody>
      </p:sp>
      <p:sp>
        <p:nvSpPr>
          <p:cNvPr id="210" name="g0_sub"/>
          <p:cNvSpPr/>
          <p:nvPr/>
        </p:nvSpPr>
        <p:spPr>
          <a:xfrm>
            <a:off x="6217920" y="2351151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结论核对到冻结输入</a:t>
            </a:r>
            <a:endParaRPr lang="en-US" sz="1150" dirty="0"/>
          </a:p>
        </p:txBody>
      </p:sp>
      <p:sp>
        <p:nvSpPr>
          <p:cNvPr id="211" name="g0_to_bus"/>
          <p:cNvSpPr/>
          <p:nvPr/>
        </p:nvSpPr>
        <p:spPr>
          <a:xfrm>
            <a:off x="9326880" y="2332863"/>
            <a:ext cx="274320" cy="0"/>
          </a:xfrm>
          <a:prstGeom prst="line">
            <a:avLst/>
          </a:prstGeom>
          <a:noFill/>
          <a:ln w="19050">
            <a:solidFill>
              <a:srgbClr val="1E4FA8"/>
            </a:solidFill>
            <a:prstDash val="solid"/>
          </a:ln>
        </p:spPr>
      </p:sp>
      <p:sp>
        <p:nvSpPr>
          <p:cNvPr id="212" name="q1_num"/>
          <p:cNvSpPr/>
          <p:nvPr/>
        </p:nvSpPr>
        <p:spPr>
          <a:xfrm>
            <a:off x="502920" y="2881503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363D"/>
            </a:solidFill>
            <a:prstDash val="solid"/>
          </a:ln>
        </p:spPr>
      </p:sp>
      <p:sp>
        <p:nvSpPr>
          <p:cNvPr id="213" name="q1_num_t"/>
          <p:cNvSpPr/>
          <p:nvPr/>
        </p:nvSpPr>
        <p:spPr>
          <a:xfrm>
            <a:off x="502920" y="288150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400" dirty="0"/>
          </a:p>
        </p:txBody>
      </p:sp>
      <p:sp>
        <p:nvSpPr>
          <p:cNvPr id="214" name="q1"/>
          <p:cNvSpPr/>
          <p:nvPr/>
        </p:nvSpPr>
        <p:spPr>
          <a:xfrm>
            <a:off x="1097280" y="2762631"/>
            <a:ext cx="4663440" cy="640080"/>
          </a:xfrm>
          <a:prstGeom prst="rect">
            <a:avLst/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15" name="q1_label"/>
          <p:cNvSpPr/>
          <p:nvPr/>
        </p:nvSpPr>
        <p:spPr>
          <a:xfrm>
            <a:off x="1261872" y="2801112"/>
            <a:ext cx="433425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模型能否被阻止自报分数、改写观察？</a:t>
            </a:r>
            <a:endParaRPr lang="en-US" sz="1400" dirty="0"/>
          </a:p>
        </p:txBody>
      </p:sp>
      <p:sp>
        <p:nvSpPr>
          <p:cNvPr id="216" name="q1_sub"/>
          <p:cNvSpPr/>
          <p:nvPr/>
        </p:nvSpPr>
        <p:spPr>
          <a:xfrm>
            <a:off x="1261872" y="3100959"/>
            <a:ext cx="43342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参与生成，但不应成为科研事实的来源</a:t>
            </a:r>
            <a:endParaRPr lang="en-US" sz="1150" dirty="0"/>
          </a:p>
        </p:txBody>
      </p:sp>
      <p:sp>
        <p:nvSpPr>
          <p:cNvPr id="217" name="q1_to_g"/>
          <p:cNvSpPr/>
          <p:nvPr/>
        </p:nvSpPr>
        <p:spPr>
          <a:xfrm>
            <a:off x="5760720" y="3082671"/>
            <a:ext cx="45720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8" name="g1"/>
          <p:cNvSpPr/>
          <p:nvPr/>
        </p:nvSpPr>
        <p:spPr>
          <a:xfrm>
            <a:off x="6217920" y="2762631"/>
            <a:ext cx="3108960" cy="64008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19" name="g1_label"/>
          <p:cNvSpPr/>
          <p:nvPr/>
        </p:nvSpPr>
        <p:spPr>
          <a:xfrm>
            <a:off x="6217920" y="280111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2 · 不可自报</a:t>
            </a:r>
            <a:endParaRPr lang="en-US" sz="1400" dirty="0"/>
          </a:p>
        </p:txBody>
      </p:sp>
      <p:sp>
        <p:nvSpPr>
          <p:cNvPr id="220" name="g1_sub"/>
          <p:cNvSpPr/>
          <p:nvPr/>
        </p:nvSpPr>
        <p:spPr>
          <a:xfrm>
            <a:off x="6217920" y="3100959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分数与观察由独立方写入</a:t>
            </a:r>
            <a:endParaRPr lang="en-US" sz="1150" dirty="0"/>
          </a:p>
        </p:txBody>
      </p:sp>
      <p:sp>
        <p:nvSpPr>
          <p:cNvPr id="221" name="g1_to_bus"/>
          <p:cNvSpPr/>
          <p:nvPr/>
        </p:nvSpPr>
        <p:spPr>
          <a:xfrm>
            <a:off x="9326880" y="3082671"/>
            <a:ext cx="274320" cy="0"/>
          </a:xfrm>
          <a:prstGeom prst="line">
            <a:avLst/>
          </a:prstGeom>
          <a:noFill/>
          <a:ln w="19050">
            <a:solidFill>
              <a:srgbClr val="1E4FA8"/>
            </a:solidFill>
            <a:prstDash val="solid"/>
          </a:ln>
        </p:spPr>
      </p:sp>
      <p:sp>
        <p:nvSpPr>
          <p:cNvPr id="222" name="q2_num"/>
          <p:cNvSpPr/>
          <p:nvPr/>
        </p:nvSpPr>
        <p:spPr>
          <a:xfrm>
            <a:off x="502920" y="3631311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363D"/>
            </a:solidFill>
            <a:prstDash val="solid"/>
          </a:ln>
        </p:spPr>
      </p:sp>
      <p:sp>
        <p:nvSpPr>
          <p:cNvPr id="223" name="q2_num_t"/>
          <p:cNvSpPr/>
          <p:nvPr/>
        </p:nvSpPr>
        <p:spPr>
          <a:xfrm>
            <a:off x="502920" y="363131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400" dirty="0"/>
          </a:p>
        </p:txBody>
      </p:sp>
      <p:sp>
        <p:nvSpPr>
          <p:cNvPr id="224" name="q2"/>
          <p:cNvSpPr/>
          <p:nvPr/>
        </p:nvSpPr>
        <p:spPr>
          <a:xfrm>
            <a:off x="1097280" y="3512439"/>
            <a:ext cx="4663440" cy="640080"/>
          </a:xfrm>
          <a:prstGeom prst="rect">
            <a:avLst/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25" name="q2_label"/>
          <p:cNvSpPr/>
          <p:nvPr/>
        </p:nvSpPr>
        <p:spPr>
          <a:xfrm>
            <a:off x="1261872" y="3560445"/>
            <a:ext cx="433425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“搜索中看起来好”能否与“独立确认后成立”区分？</a:t>
            </a:r>
            <a:endParaRPr lang="en-US" sz="1400" dirty="0"/>
          </a:p>
        </p:txBody>
      </p:sp>
      <p:sp>
        <p:nvSpPr>
          <p:cNvPr id="226" name="q2_sub"/>
          <p:cNvSpPr/>
          <p:nvPr/>
        </p:nvSpPr>
        <p:spPr>
          <a:xfrm>
            <a:off x="1261872" y="3850767"/>
            <a:ext cx="43342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避免在同一批数据上反复挑选结果</a:t>
            </a:r>
            <a:endParaRPr lang="en-US" sz="1150" dirty="0"/>
          </a:p>
        </p:txBody>
      </p:sp>
      <p:sp>
        <p:nvSpPr>
          <p:cNvPr id="227" name="q2_to_g"/>
          <p:cNvSpPr/>
          <p:nvPr/>
        </p:nvSpPr>
        <p:spPr>
          <a:xfrm>
            <a:off x="5760720" y="3832479"/>
            <a:ext cx="45720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28" name="g2"/>
          <p:cNvSpPr/>
          <p:nvPr/>
        </p:nvSpPr>
        <p:spPr>
          <a:xfrm>
            <a:off x="6217920" y="3512439"/>
            <a:ext cx="3108960" cy="64008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29" name="g2_label"/>
          <p:cNvSpPr/>
          <p:nvPr/>
        </p:nvSpPr>
        <p:spPr>
          <a:xfrm>
            <a:off x="6217920" y="355092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3 · 可区分</a:t>
            </a:r>
            <a:endParaRPr lang="en-US" sz="1400" dirty="0"/>
          </a:p>
        </p:txBody>
      </p:sp>
      <p:sp>
        <p:nvSpPr>
          <p:cNvPr id="230" name="g2_sub"/>
          <p:cNvSpPr/>
          <p:nvPr/>
        </p:nvSpPr>
        <p:spPr>
          <a:xfrm>
            <a:off x="6217920" y="3850767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搜索与确认分开记录</a:t>
            </a:r>
            <a:endParaRPr lang="en-US" sz="1150" dirty="0"/>
          </a:p>
        </p:txBody>
      </p:sp>
      <p:sp>
        <p:nvSpPr>
          <p:cNvPr id="231" name="g2_to_bus"/>
          <p:cNvSpPr/>
          <p:nvPr/>
        </p:nvSpPr>
        <p:spPr>
          <a:xfrm>
            <a:off x="9326880" y="3832479"/>
            <a:ext cx="274320" cy="0"/>
          </a:xfrm>
          <a:prstGeom prst="line">
            <a:avLst/>
          </a:prstGeom>
          <a:noFill/>
          <a:ln w="19050">
            <a:solidFill>
              <a:srgbClr val="1E4FA8"/>
            </a:solidFill>
            <a:prstDash val="solid"/>
          </a:ln>
        </p:spPr>
      </p:sp>
      <p:sp>
        <p:nvSpPr>
          <p:cNvPr id="232" name="bus"/>
          <p:cNvSpPr/>
          <p:nvPr/>
        </p:nvSpPr>
        <p:spPr>
          <a:xfrm>
            <a:off x="9601200" y="2332863"/>
            <a:ext cx="0" cy="1499616"/>
          </a:xfrm>
          <a:prstGeom prst="line">
            <a:avLst/>
          </a:prstGeom>
          <a:noFill/>
          <a:ln w="19050">
            <a:solidFill>
              <a:srgbClr val="1E4FA8"/>
            </a:solidFill>
            <a:prstDash val="solid"/>
          </a:ln>
        </p:spPr>
      </p:sp>
      <p:sp>
        <p:nvSpPr>
          <p:cNvPr id="233" name="bus_to_goal"/>
          <p:cNvSpPr/>
          <p:nvPr/>
        </p:nvSpPr>
        <p:spPr>
          <a:xfrm>
            <a:off x="9601200" y="3082671"/>
            <a:ext cx="301752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34" name="goal"/>
          <p:cNvSpPr/>
          <p:nvPr/>
        </p:nvSpPr>
        <p:spPr>
          <a:xfrm>
            <a:off x="9902952" y="2186559"/>
            <a:ext cx="1792224" cy="1792224"/>
          </a:xfrm>
          <a:prstGeom prst="ellipse">
            <a:avLst/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35" name="goal_title"/>
          <p:cNvSpPr/>
          <p:nvPr/>
        </p:nvSpPr>
        <p:spPr>
          <a:xfrm>
            <a:off x="9902952" y="2406015"/>
            <a:ext cx="17922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研究目的</a:t>
            </a:r>
            <a:endParaRPr lang="en-US" sz="1500" dirty="0"/>
          </a:p>
        </p:txBody>
      </p:sp>
      <p:sp>
        <p:nvSpPr>
          <p:cNvPr id="236" name="goal_s1"/>
          <p:cNvSpPr/>
          <p:nvPr/>
        </p:nvSpPr>
        <p:spPr>
          <a:xfrm>
            <a:off x="10177272" y="2835783"/>
            <a:ext cx="1243584" cy="31089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7" name="goal_s1_t"/>
          <p:cNvSpPr/>
          <p:nvPr/>
        </p:nvSpPr>
        <p:spPr>
          <a:xfrm>
            <a:off x="10177272" y="2835783"/>
            <a:ext cx="12435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结论可核对</a:t>
            </a:r>
            <a:endParaRPr lang="en-US" sz="1150" dirty="0"/>
          </a:p>
        </p:txBody>
      </p:sp>
      <p:sp>
        <p:nvSpPr>
          <p:cNvPr id="238" name="goal_s2"/>
          <p:cNvSpPr/>
          <p:nvPr/>
        </p:nvSpPr>
        <p:spPr>
          <a:xfrm>
            <a:off x="10177272" y="3219831"/>
            <a:ext cx="1243584" cy="31089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9" name="goal_s2_t"/>
          <p:cNvSpPr/>
          <p:nvPr/>
        </p:nvSpPr>
        <p:spPr>
          <a:xfrm>
            <a:off x="10177272" y="3219831"/>
            <a:ext cx="12435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过程可审计</a:t>
            </a:r>
            <a:endParaRPr lang="en-US" sz="1150" dirty="0"/>
          </a:p>
        </p:txBody>
      </p:sp>
      <p:sp>
        <p:nvSpPr>
          <p:cNvPr id="243" name="unsolved_label"/>
          <p:cNvSpPr/>
          <p:nvPr/>
        </p:nvSpPr>
        <p:spPr>
          <a:xfrm>
            <a:off x="1097280" y="4315333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任一问题未解决，结论就无法核对到冻结输入</a:t>
            </a:r>
            <a:endParaRPr lang="en-US" sz="1150" dirty="0"/>
          </a:p>
        </p:txBody>
      </p:sp>
      <p:sp>
        <p:nvSpPr>
          <p:cNvPr id="244" name="detail_rule"/>
          <p:cNvSpPr/>
          <p:nvPr/>
        </p:nvSpPr>
        <p:spPr>
          <a:xfrm>
            <a:off x="502920" y="4800600"/>
            <a:ext cx="1122883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245" name="detail_c0_head"/>
          <p:cNvSpPr/>
          <p:nvPr/>
        </p:nvSpPr>
        <p:spPr>
          <a:xfrm>
            <a:off x="502920" y="5042662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理论意义</a:t>
            </a:r>
            <a:endParaRPr lang="en-US" sz="1200" dirty="0"/>
          </a:p>
        </p:txBody>
      </p:sp>
      <p:sp>
        <p:nvSpPr>
          <p:cNvPr id="246" name="detail_c0_body"/>
          <p:cNvSpPr/>
          <p:nvPr/>
        </p:nvSpPr>
        <p:spPr>
          <a:xfrm>
            <a:off x="502920" y="5531358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把预注册、溯源、独立评估等科研规范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形式化为对象与状态约束</a:t>
            </a:r>
            <a:endParaRPr lang="en-US" sz="1100" dirty="0"/>
          </a:p>
        </p:txBody>
      </p:sp>
      <p:sp>
        <p:nvSpPr>
          <p:cNvPr id="247" name="detail_c1_head"/>
          <p:cNvSpPr/>
          <p:nvPr/>
        </p:nvSpPr>
        <p:spPr>
          <a:xfrm>
            <a:off x="4337304" y="5026152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实践意义</a:t>
            </a:r>
            <a:endParaRPr lang="en-US" sz="1200" dirty="0"/>
          </a:p>
        </p:txBody>
      </p:sp>
      <p:sp>
        <p:nvSpPr>
          <p:cNvPr id="248" name="detail_c1_body"/>
          <p:cNvSpPr/>
          <p:nvPr/>
        </p:nvSpPr>
        <p:spPr>
          <a:xfrm>
            <a:off x="4337304" y="5514848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本地优先，降低个人研究者的使用门槛；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减轻幻觉与伪造引用带来的风险 </a:t>
            </a:r>
            <a:endParaRPr lang="en-US" sz="1100" dirty="0"/>
          </a:p>
        </p:txBody>
      </p:sp>
      <p:sp>
        <p:nvSpPr>
          <p:cNvPr id="249" name="detail_c2_head"/>
          <p:cNvSpPr/>
          <p:nvPr/>
        </p:nvSpPr>
        <p:spPr>
          <a:xfrm>
            <a:off x="8171688" y="5017897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可检验的可信</a:t>
            </a:r>
            <a:endParaRPr lang="en-US" sz="1200" dirty="0"/>
          </a:p>
        </p:txBody>
      </p:sp>
      <p:sp>
        <p:nvSpPr>
          <p:cNvPr id="250" name="detail_c2_body"/>
          <p:cNvSpPr/>
          <p:nvPr/>
        </p:nvSpPr>
        <p:spPr>
          <a:xfrm>
            <a:off x="8171688" y="5498338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“可信”落到“可核对”，可用故障注入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与篡改检测检验约束是否生效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38684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· 研究内容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2" name="Text 9"/>
          <p:cNvSpPr/>
          <p:nvPr/>
        </p:nvSpPr>
        <p:spPr>
          <a:xfrm>
            <a:off x="713232" y="942975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研究内容：围绕“结论可核对、过程可审计”完成四项任务</a:t>
            </a:r>
            <a:endParaRPr lang="en-US" sz="1900" dirty="0"/>
          </a:p>
        </p:txBody>
      </p:sp>
      <p:sp>
        <p:nvSpPr>
          <p:cNvPr id="200" name="layer_0"/>
          <p:cNvSpPr/>
          <p:nvPr/>
        </p:nvSpPr>
        <p:spPr>
          <a:xfrm>
            <a:off x="502920" y="162763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输入层</a:t>
            </a:r>
            <a:endParaRPr lang="en-US" sz="1150" dirty="0"/>
          </a:p>
        </p:txBody>
      </p:sp>
      <p:sp>
        <p:nvSpPr>
          <p:cNvPr id="201" name="layer_1"/>
          <p:cNvSpPr/>
          <p:nvPr/>
        </p:nvSpPr>
        <p:spPr>
          <a:xfrm>
            <a:off x="3794760" y="162763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内核层</a:t>
            </a:r>
            <a:endParaRPr lang="en-US" sz="1150" dirty="0"/>
          </a:p>
        </p:txBody>
      </p:sp>
      <p:sp>
        <p:nvSpPr>
          <p:cNvPr id="202" name="layer_2"/>
          <p:cNvSpPr/>
          <p:nvPr/>
        </p:nvSpPr>
        <p:spPr>
          <a:xfrm>
            <a:off x="7269480" y="162763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执行评估层</a:t>
            </a:r>
            <a:endParaRPr lang="en-US" sz="1150" dirty="0"/>
          </a:p>
        </p:txBody>
      </p:sp>
      <p:sp>
        <p:nvSpPr>
          <p:cNvPr id="203" name="t1"/>
          <p:cNvSpPr/>
          <p:nvPr/>
        </p:nvSpPr>
        <p:spPr>
          <a:xfrm>
            <a:off x="502920" y="2057400"/>
            <a:ext cx="2834640" cy="1280160"/>
          </a:xfrm>
          <a:prstGeom prst="rect">
            <a:avLst/>
          </a:prstGeom>
          <a:solidFill>
            <a:srgbClr val="F2F5F6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04" name="t1_label"/>
          <p:cNvSpPr/>
          <p:nvPr/>
        </p:nvSpPr>
        <p:spPr>
          <a:xfrm>
            <a:off x="502920" y="236829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(1) 输入登记与证据化</a:t>
            </a:r>
            <a:endParaRPr lang="en-US" sz="1400" dirty="0"/>
          </a:p>
        </p:txBody>
      </p:sp>
      <p:sp>
        <p:nvSpPr>
          <p:cNvPr id="205" name="t1_sub"/>
          <p:cNvSpPr/>
          <p:nvPr/>
        </p:nvSpPr>
        <p:spPr>
          <a:xfrm>
            <a:off x="502920" y="2715768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 · 代码修订 · 实验产物</a:t>
            </a:r>
            <a:endParaRPr lang="en-US" sz="1150" dirty="0"/>
          </a:p>
        </p:txBody>
      </p:sp>
      <p:sp>
        <p:nvSpPr>
          <p:cNvPr id="206" name="t1_to_t2"/>
          <p:cNvSpPr/>
          <p:nvPr/>
        </p:nvSpPr>
        <p:spPr>
          <a:xfrm>
            <a:off x="3337560" y="2697480"/>
            <a:ext cx="45720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07" name="t2"/>
          <p:cNvSpPr/>
          <p:nvPr/>
        </p:nvSpPr>
        <p:spPr>
          <a:xfrm>
            <a:off x="3794760" y="1920240"/>
            <a:ext cx="3017520" cy="1554480"/>
          </a:xfrm>
          <a:prstGeom prst="roundRect">
            <a:avLst>
              <a:gd name="adj" fmla="val 7059"/>
            </a:avLst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08" name="t2_title"/>
          <p:cNvSpPr/>
          <p:nvPr/>
        </p:nvSpPr>
        <p:spPr>
          <a:xfrm>
            <a:off x="3794760" y="1993392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(2) 科研对象与状态机</a:t>
            </a:r>
            <a:endParaRPr lang="en-US" sz="1500" dirty="0"/>
          </a:p>
        </p:txBody>
      </p:sp>
      <p:sp>
        <p:nvSpPr>
          <p:cNvPr id="209" name="t2_s1"/>
          <p:cNvSpPr/>
          <p:nvPr/>
        </p:nvSpPr>
        <p:spPr>
          <a:xfrm>
            <a:off x="4069080" y="2468880"/>
            <a:ext cx="246888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0" name="t2_s1_t"/>
          <p:cNvSpPr/>
          <p:nvPr/>
        </p:nvSpPr>
        <p:spPr>
          <a:xfrm>
            <a:off x="4069080" y="2468880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每类对象一个权威写入方</a:t>
            </a:r>
            <a:endParaRPr lang="en-US" sz="1150" dirty="0"/>
          </a:p>
        </p:txBody>
      </p:sp>
      <p:sp>
        <p:nvSpPr>
          <p:cNvPr id="211" name="t2_s2"/>
          <p:cNvSpPr/>
          <p:nvPr/>
        </p:nvSpPr>
        <p:spPr>
          <a:xfrm>
            <a:off x="4069080" y="2898648"/>
            <a:ext cx="246888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2" name="t2_s2_t"/>
          <p:cNvSpPr/>
          <p:nvPr/>
        </p:nvSpPr>
        <p:spPr>
          <a:xfrm>
            <a:off x="4069080" y="2898648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智能体只能提议</a:t>
            </a:r>
            <a:endParaRPr lang="en-US" sz="1150" dirty="0"/>
          </a:p>
        </p:txBody>
      </p:sp>
      <p:sp>
        <p:nvSpPr>
          <p:cNvPr id="213" name="t2_to_t3"/>
          <p:cNvSpPr/>
          <p:nvPr/>
        </p:nvSpPr>
        <p:spPr>
          <a:xfrm>
            <a:off x="6812280" y="2697480"/>
            <a:ext cx="45720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14" name="t3"/>
          <p:cNvSpPr/>
          <p:nvPr/>
        </p:nvSpPr>
        <p:spPr>
          <a:xfrm>
            <a:off x="7269480" y="2057400"/>
            <a:ext cx="2834640" cy="128016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15" name="t3_label"/>
          <p:cNvSpPr/>
          <p:nvPr/>
        </p:nvSpPr>
        <p:spPr>
          <a:xfrm>
            <a:off x="7269480" y="236829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(3) 隔离执行与独立评估</a:t>
            </a:r>
            <a:endParaRPr lang="en-US" sz="1400" dirty="0"/>
          </a:p>
        </p:txBody>
      </p:sp>
      <p:sp>
        <p:nvSpPr>
          <p:cNvPr id="216" name="t3_sub"/>
          <p:cNvSpPr/>
          <p:nvPr/>
        </p:nvSpPr>
        <p:spPr>
          <a:xfrm>
            <a:off x="7269480" y="2715768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确认数据只打开一次</a:t>
            </a:r>
            <a:endParaRPr lang="en-US" sz="1150" dirty="0"/>
          </a:p>
        </p:txBody>
      </p:sp>
      <p:sp>
        <p:nvSpPr>
          <p:cNvPr id="217" name="t3_to_out"/>
          <p:cNvSpPr/>
          <p:nvPr/>
        </p:nvSpPr>
        <p:spPr>
          <a:xfrm>
            <a:off x="10104120" y="2697480"/>
            <a:ext cx="32004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18" name="out"/>
          <p:cNvSpPr/>
          <p:nvPr/>
        </p:nvSpPr>
        <p:spPr>
          <a:xfrm>
            <a:off x="10424160" y="2103120"/>
            <a:ext cx="1307592" cy="1188720"/>
          </a:xfrm>
          <a:prstGeom prst="flowChartDocumen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19" name="out_label"/>
          <p:cNvSpPr/>
          <p:nvPr/>
        </p:nvSpPr>
        <p:spPr>
          <a:xfrm>
            <a:off x="10424160" y="2368296"/>
            <a:ext cx="13075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</a:t>
            </a:r>
            <a:endParaRPr lang="en-US" sz="1400" dirty="0"/>
          </a:p>
        </p:txBody>
      </p:sp>
      <p:sp>
        <p:nvSpPr>
          <p:cNvPr id="220" name="out_sub"/>
          <p:cNvSpPr/>
          <p:nvPr/>
        </p:nvSpPr>
        <p:spPr>
          <a:xfrm>
            <a:off x="10424160" y="2715768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可核对</a:t>
            </a:r>
            <a:endParaRPr lang="en-US" sz="1150" dirty="0"/>
          </a:p>
        </p:txBody>
      </p:sp>
      <p:sp>
        <p:nvSpPr>
          <p:cNvPr id="221" name="receipt_0"/>
          <p:cNvSpPr/>
          <p:nvPr/>
        </p:nvSpPr>
        <p:spPr>
          <a:xfrm>
            <a:off x="8686800" y="3337560"/>
            <a:ext cx="0" cy="411480"/>
          </a:xfrm>
          <a:prstGeom prst="line">
            <a:avLst/>
          </a:prstGeom>
          <a:noFill/>
          <a:ln w="15875">
            <a:solidFill>
              <a:srgbClr val="52636A"/>
            </a:solidFill>
            <a:prstDash val="dash"/>
          </a:ln>
        </p:spPr>
      </p:sp>
      <p:sp>
        <p:nvSpPr>
          <p:cNvPr id="222" name="receipt_1"/>
          <p:cNvSpPr/>
          <p:nvPr/>
        </p:nvSpPr>
        <p:spPr>
          <a:xfrm>
            <a:off x="6309360" y="3749040"/>
            <a:ext cx="2377440" cy="0"/>
          </a:xfrm>
          <a:prstGeom prst="line">
            <a:avLst/>
          </a:prstGeom>
          <a:noFill/>
          <a:ln w="15875">
            <a:solidFill>
              <a:srgbClr val="52636A"/>
            </a:solidFill>
            <a:prstDash val="dash"/>
          </a:ln>
        </p:spPr>
      </p:sp>
      <p:sp>
        <p:nvSpPr>
          <p:cNvPr id="223" name="receipt_2"/>
          <p:cNvSpPr/>
          <p:nvPr/>
        </p:nvSpPr>
        <p:spPr>
          <a:xfrm>
            <a:off x="6309360" y="3474720"/>
            <a:ext cx="0" cy="274320"/>
          </a:xfrm>
          <a:prstGeom prst="line">
            <a:avLst/>
          </a:prstGeom>
          <a:noFill/>
          <a:ln w="15875">
            <a:solidFill>
              <a:srgbClr val="52636A"/>
            </a:solidFill>
            <a:prstDash val="dash"/>
            <a:headEnd type="triangle"/>
          </a:ln>
        </p:spPr>
      </p:sp>
      <p:sp>
        <p:nvSpPr>
          <p:cNvPr id="224" name="receipt_label"/>
          <p:cNvSpPr/>
          <p:nvPr/>
        </p:nvSpPr>
        <p:spPr>
          <a:xfrm>
            <a:off x="6446520" y="376732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评分回执与判断写回内核</a:t>
            </a:r>
            <a:endParaRPr lang="en-US" sz="1150" dirty="0"/>
          </a:p>
        </p:txBody>
      </p:sp>
      <p:sp>
        <p:nvSpPr>
          <p:cNvPr id="225" name="t4"/>
          <p:cNvSpPr/>
          <p:nvPr/>
        </p:nvSpPr>
        <p:spPr>
          <a:xfrm>
            <a:off x="502920" y="4206240"/>
            <a:ext cx="1122883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26" name="t4_label"/>
          <p:cNvSpPr/>
          <p:nvPr/>
        </p:nvSpPr>
        <p:spPr>
          <a:xfrm>
            <a:off x="685800" y="420624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(4) 系统实现与验证</a:t>
            </a:r>
            <a:endParaRPr lang="en-US" sz="1400" dirty="0"/>
          </a:p>
        </p:txBody>
      </p:sp>
      <p:sp>
        <p:nvSpPr>
          <p:cNvPr id="227" name="t4_layer"/>
          <p:cNvSpPr/>
          <p:nvPr/>
        </p:nvSpPr>
        <p:spPr>
          <a:xfrm>
            <a:off x="9966960" y="4206240"/>
            <a:ext cx="1600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实现验证</a:t>
            </a:r>
            <a:endParaRPr lang="en-US" sz="1150" dirty="0"/>
          </a:p>
        </p:txBody>
      </p:sp>
      <p:sp>
        <p:nvSpPr>
          <p:cNvPr id="228" name="t4_items"/>
          <p:cNvSpPr/>
          <p:nvPr/>
        </p:nvSpPr>
        <p:spPr>
          <a:xfrm>
            <a:off x="3017520" y="4206240"/>
            <a:ext cx="6858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工作台与命令入口仅提交动作　·　工程测试　·　冻结协议下的科研验证</a:t>
            </a:r>
            <a:endParaRPr lang="en-US" sz="1400" dirty="0"/>
          </a:p>
        </p:txBody>
      </p:sp>
      <p:sp>
        <p:nvSpPr>
          <p:cNvPr id="229" name="t4_up_1"/>
          <p:cNvSpPr/>
          <p:nvPr/>
        </p:nvSpPr>
        <p:spPr>
          <a:xfrm>
            <a:off x="1920240" y="3337560"/>
            <a:ext cx="0" cy="868680"/>
          </a:xfrm>
          <a:prstGeom prst="line">
            <a:avLst/>
          </a:prstGeom>
          <a:noFill/>
          <a:ln w="12700">
            <a:solidFill>
              <a:srgbClr val="A6B4B9"/>
            </a:solidFill>
            <a:prstDash val="dash"/>
            <a:headEnd type="triangle"/>
          </a:ln>
        </p:spPr>
      </p:sp>
      <p:sp>
        <p:nvSpPr>
          <p:cNvPr id="230" name="t4_up_3"/>
          <p:cNvSpPr/>
          <p:nvPr/>
        </p:nvSpPr>
        <p:spPr>
          <a:xfrm>
            <a:off x="9692640" y="3337560"/>
            <a:ext cx="0" cy="868680"/>
          </a:xfrm>
          <a:prstGeom prst="line">
            <a:avLst/>
          </a:prstGeom>
          <a:noFill/>
          <a:ln w="12700">
            <a:solidFill>
              <a:srgbClr val="A6B4B9"/>
            </a:solidFill>
            <a:prstDash val="dash"/>
            <a:headEnd type="triangle"/>
          </a:ln>
        </p:spPr>
      </p:sp>
      <p:sp>
        <p:nvSpPr>
          <p:cNvPr id="231" name="fault"/>
          <p:cNvSpPr/>
          <p:nvPr/>
        </p:nvSpPr>
        <p:spPr>
          <a:xfrm>
            <a:off x="4754880" y="3474720"/>
            <a:ext cx="0" cy="731520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  <a:headEnd type="triangle"/>
          </a:ln>
        </p:spPr>
      </p:sp>
      <p:sp>
        <p:nvSpPr>
          <p:cNvPr id="232" name="fault_label"/>
          <p:cNvSpPr/>
          <p:nvPr/>
        </p:nvSpPr>
        <p:spPr>
          <a:xfrm>
            <a:off x="3749040" y="370332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故障注入</a:t>
            </a:r>
            <a:endParaRPr lang="en-US" sz="1150" dirty="0"/>
          </a:p>
        </p:txBody>
      </p:sp>
      <p:sp>
        <p:nvSpPr>
          <p:cNvPr id="233" name="tag_a"/>
          <p:cNvSpPr/>
          <p:nvPr/>
        </p:nvSpPr>
        <p:spPr>
          <a:xfrm>
            <a:off x="3405378" y="2086483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234" name="tag_b"/>
          <p:cNvSpPr/>
          <p:nvPr/>
        </p:nvSpPr>
        <p:spPr>
          <a:xfrm>
            <a:off x="6871843" y="2020443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150" dirty="0"/>
          </a:p>
        </p:txBody>
      </p:sp>
      <p:sp>
        <p:nvSpPr>
          <p:cNvPr id="235" name="tag_c"/>
          <p:cNvSpPr/>
          <p:nvPr/>
        </p:nvSpPr>
        <p:spPr>
          <a:xfrm>
            <a:off x="10180193" y="2053463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150" dirty="0"/>
          </a:p>
        </p:txBody>
      </p:sp>
      <p:sp>
        <p:nvSpPr>
          <p:cNvPr id="236" name="tag_d"/>
          <p:cNvSpPr/>
          <p:nvPr/>
        </p:nvSpPr>
        <p:spPr>
          <a:xfrm>
            <a:off x="11434445" y="3908933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</a:t>
            </a:r>
            <a:endParaRPr lang="en-US" sz="1150" dirty="0"/>
          </a:p>
        </p:txBody>
      </p:sp>
      <p:sp>
        <p:nvSpPr>
          <p:cNvPr id="237" name="detail_rule"/>
          <p:cNvSpPr/>
          <p:nvPr/>
        </p:nvSpPr>
        <p:spPr>
          <a:xfrm>
            <a:off x="502920" y="5193792"/>
            <a:ext cx="1122883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238" name="detail_a_head"/>
          <p:cNvSpPr/>
          <p:nvPr/>
        </p:nvSpPr>
        <p:spPr>
          <a:xfrm>
            <a:off x="502920" y="5299964"/>
            <a:ext cx="26014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任务一 输入登记</a:t>
            </a:r>
            <a:endParaRPr lang="en-US" sz="1200" dirty="0"/>
          </a:p>
        </p:txBody>
      </p:sp>
      <p:sp>
        <p:nvSpPr>
          <p:cNvPr id="239" name="detail_a_body"/>
          <p:cNvSpPr/>
          <p:nvPr/>
        </p:nvSpPr>
        <p:spPr>
          <a:xfrm>
            <a:off x="502920" y="5610860"/>
            <a:ext cx="260146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文献记录来源与全文可达性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代码以不可变修订进入运行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产物按角色登记摘要</a:t>
            </a:r>
            <a:endParaRPr lang="en-US" sz="1100" dirty="0"/>
          </a:p>
        </p:txBody>
      </p:sp>
      <p:sp>
        <p:nvSpPr>
          <p:cNvPr id="240" name="detail_b_head"/>
          <p:cNvSpPr/>
          <p:nvPr/>
        </p:nvSpPr>
        <p:spPr>
          <a:xfrm>
            <a:off x="3378708" y="5299964"/>
            <a:ext cx="26014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任务二 对象与写入边界</a:t>
            </a:r>
            <a:endParaRPr lang="en-US" sz="1200" dirty="0"/>
          </a:p>
        </p:txBody>
      </p:sp>
      <p:sp>
        <p:nvSpPr>
          <p:cNvPr id="241" name="detail_b_body"/>
          <p:cNvSpPr/>
          <p:nvPr/>
        </p:nvSpPr>
        <p:spPr>
          <a:xfrm>
            <a:off x="3378708" y="5610860"/>
            <a:ext cx="260146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研究、假设、设计、观察、决策、声明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设计冻结后不可更改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智能体不能写观察、分数和判断</a:t>
            </a:r>
            <a:endParaRPr lang="en-US" sz="1100" dirty="0"/>
          </a:p>
        </p:txBody>
      </p:sp>
      <p:sp>
        <p:nvSpPr>
          <p:cNvPr id="242" name="detail_c_head"/>
          <p:cNvSpPr/>
          <p:nvPr/>
        </p:nvSpPr>
        <p:spPr>
          <a:xfrm>
            <a:off x="6254496" y="5299964"/>
            <a:ext cx="26014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 任务三 执行与评估</a:t>
            </a:r>
            <a:endParaRPr lang="en-US" sz="1200" dirty="0"/>
          </a:p>
        </p:txBody>
      </p:sp>
      <p:sp>
        <p:nvSpPr>
          <p:cNvPr id="243" name="detail_c_body"/>
          <p:cNvSpPr/>
          <p:nvPr/>
        </p:nvSpPr>
        <p:spPr>
          <a:xfrm>
            <a:off x="6254496" y="5610860"/>
            <a:ext cx="260146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运行绑定源码与输入快照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本地或沙箱执行，如实报告信任等级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独立评估器生成评分回执</a:t>
            </a:r>
            <a:endParaRPr lang="en-US" sz="1100" dirty="0"/>
          </a:p>
        </p:txBody>
      </p:sp>
      <p:sp>
        <p:nvSpPr>
          <p:cNvPr id="244" name="detail_d_head"/>
          <p:cNvSpPr/>
          <p:nvPr/>
        </p:nvSpPr>
        <p:spPr>
          <a:xfrm>
            <a:off x="9130284" y="5299964"/>
            <a:ext cx="26014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  任务四 实现与验证</a:t>
            </a:r>
            <a:endParaRPr lang="en-US" sz="1200" dirty="0"/>
          </a:p>
        </p:txBody>
      </p:sp>
      <p:sp>
        <p:nvSpPr>
          <p:cNvPr id="245" name="detail_d_body"/>
          <p:cNvSpPr/>
          <p:nvPr/>
        </p:nvSpPr>
        <p:spPr>
          <a:xfrm>
            <a:off x="9130284" y="5610860"/>
            <a:ext cx="260146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工程测试：非法转移、幂等、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崩溃恢复与篡改检测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科研验证：冻结协议下比较解释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29159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· 研究内容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34887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2" name="Text 9"/>
          <p:cNvSpPr/>
          <p:nvPr/>
        </p:nvSpPr>
        <p:spPr>
          <a:xfrm>
            <a:off x="713232" y="914400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任务一：三类输入分源登记、以摘要关联，不合并为一段文本</a:t>
            </a:r>
            <a:endParaRPr lang="en-US" sz="1900" dirty="0"/>
          </a:p>
        </p:txBody>
      </p:sp>
      <p:sp>
        <p:nvSpPr>
          <p:cNvPr id="200" name="lanes_title"/>
          <p:cNvSpPr/>
          <p:nvPr/>
        </p:nvSpPr>
        <p:spPr>
          <a:xfrm>
            <a:off x="702945" y="1627632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三类输入分源进入</a:t>
            </a:r>
            <a:endParaRPr lang="en-US" sz="1150" dirty="0"/>
          </a:p>
        </p:txBody>
      </p:sp>
      <p:sp>
        <p:nvSpPr>
          <p:cNvPr id="201" name="in_0"/>
          <p:cNvSpPr/>
          <p:nvPr/>
        </p:nvSpPr>
        <p:spPr>
          <a:xfrm>
            <a:off x="855345" y="1996440"/>
            <a:ext cx="2103120" cy="640080"/>
          </a:xfrm>
          <a:prstGeom prst="foldedCorner">
            <a:avLst/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02" name="in_0_label"/>
          <p:cNvSpPr/>
          <p:nvPr/>
        </p:nvSpPr>
        <p:spPr>
          <a:xfrm>
            <a:off x="788670" y="2034921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</a:t>
            </a:r>
            <a:endParaRPr lang="en-US" sz="1400" dirty="0"/>
          </a:p>
        </p:txBody>
      </p:sp>
      <p:sp>
        <p:nvSpPr>
          <p:cNvPr id="203" name="in_0_sub"/>
          <p:cNvSpPr/>
          <p:nvPr/>
        </p:nvSpPr>
        <p:spPr>
          <a:xfrm>
            <a:off x="855345" y="2334768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查询范围 · 来源</a:t>
            </a:r>
            <a:endParaRPr lang="en-US" sz="1150" dirty="0"/>
          </a:p>
        </p:txBody>
      </p:sp>
      <p:sp>
        <p:nvSpPr>
          <p:cNvPr id="204" name="tag_a"/>
          <p:cNvSpPr/>
          <p:nvPr/>
        </p:nvSpPr>
        <p:spPr>
          <a:xfrm>
            <a:off x="2900553" y="1923288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205" name="in_0_to_step"/>
          <p:cNvSpPr/>
          <p:nvPr/>
        </p:nvSpPr>
        <p:spPr>
          <a:xfrm>
            <a:off x="2958465" y="2316480"/>
            <a:ext cx="36576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06" name="step_0"/>
          <p:cNvSpPr/>
          <p:nvPr/>
        </p:nvSpPr>
        <p:spPr>
          <a:xfrm>
            <a:off x="3324225" y="1996440"/>
            <a:ext cx="2057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07" name="step_0_label"/>
          <p:cNvSpPr/>
          <p:nvPr/>
        </p:nvSpPr>
        <p:spPr>
          <a:xfrm>
            <a:off x="3286125" y="2034921"/>
            <a:ext cx="2057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全文可达性</a:t>
            </a:r>
            <a:endParaRPr lang="en-US" sz="1400" dirty="0"/>
          </a:p>
        </p:txBody>
      </p:sp>
      <p:sp>
        <p:nvSpPr>
          <p:cNvPr id="208" name="step_0_sub"/>
          <p:cNvSpPr/>
          <p:nvPr/>
        </p:nvSpPr>
        <p:spPr>
          <a:xfrm>
            <a:off x="3324225" y="2334768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不可达 → 保持未验证</a:t>
            </a:r>
            <a:endParaRPr lang="en-US" sz="1150" dirty="0"/>
          </a:p>
        </p:txBody>
      </p:sp>
      <p:sp>
        <p:nvSpPr>
          <p:cNvPr id="209" name="step_0_to_reg"/>
          <p:cNvSpPr/>
          <p:nvPr/>
        </p:nvSpPr>
        <p:spPr>
          <a:xfrm>
            <a:off x="5381625" y="2316480"/>
            <a:ext cx="45720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0" name="in_1"/>
          <p:cNvSpPr/>
          <p:nvPr/>
        </p:nvSpPr>
        <p:spPr>
          <a:xfrm>
            <a:off x="855345" y="2773680"/>
            <a:ext cx="2103120" cy="640080"/>
          </a:xfrm>
          <a:prstGeom prst="foldedCorner">
            <a:avLst/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11" name="in_1_label"/>
          <p:cNvSpPr/>
          <p:nvPr/>
        </p:nvSpPr>
        <p:spPr>
          <a:xfrm>
            <a:off x="864870" y="2812161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代码修订</a:t>
            </a:r>
            <a:endParaRPr lang="en-US" sz="1400" dirty="0"/>
          </a:p>
        </p:txBody>
      </p:sp>
      <p:sp>
        <p:nvSpPr>
          <p:cNvPr id="212" name="in_1_sub"/>
          <p:cNvSpPr/>
          <p:nvPr/>
        </p:nvSpPr>
        <p:spPr>
          <a:xfrm>
            <a:off x="855345" y="3112008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源码的不可变修订</a:t>
            </a:r>
            <a:endParaRPr lang="en-US" sz="1150" dirty="0"/>
          </a:p>
        </p:txBody>
      </p:sp>
      <p:sp>
        <p:nvSpPr>
          <p:cNvPr id="213" name="tag_b"/>
          <p:cNvSpPr/>
          <p:nvPr/>
        </p:nvSpPr>
        <p:spPr>
          <a:xfrm>
            <a:off x="2976753" y="2700528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150" dirty="0"/>
          </a:p>
        </p:txBody>
      </p:sp>
      <p:sp>
        <p:nvSpPr>
          <p:cNvPr id="214" name="in_1_to_step"/>
          <p:cNvSpPr/>
          <p:nvPr/>
        </p:nvSpPr>
        <p:spPr>
          <a:xfrm>
            <a:off x="2958465" y="3093720"/>
            <a:ext cx="36576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5" name="step_1"/>
          <p:cNvSpPr/>
          <p:nvPr/>
        </p:nvSpPr>
        <p:spPr>
          <a:xfrm>
            <a:off x="3324225" y="2773680"/>
            <a:ext cx="2057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16" name="step_1_label"/>
          <p:cNvSpPr/>
          <p:nvPr/>
        </p:nvSpPr>
        <p:spPr>
          <a:xfrm>
            <a:off x="3362325" y="2812161"/>
            <a:ext cx="2057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内容摘要</a:t>
            </a:r>
            <a:endParaRPr lang="en-US" sz="1400" dirty="0"/>
          </a:p>
        </p:txBody>
      </p:sp>
      <p:sp>
        <p:nvSpPr>
          <p:cNvPr id="217" name="step_1_sub"/>
          <p:cNvSpPr/>
          <p:nvPr/>
        </p:nvSpPr>
        <p:spPr>
          <a:xfrm>
            <a:off x="3324225" y="3112008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SHA-256 · 修订 ID</a:t>
            </a:r>
            <a:endParaRPr lang="en-US" sz="1150" dirty="0"/>
          </a:p>
        </p:txBody>
      </p:sp>
      <p:sp>
        <p:nvSpPr>
          <p:cNvPr id="218" name="step_1_to_reg"/>
          <p:cNvSpPr/>
          <p:nvPr/>
        </p:nvSpPr>
        <p:spPr>
          <a:xfrm>
            <a:off x="5381625" y="3093720"/>
            <a:ext cx="45720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9" name="in_2"/>
          <p:cNvSpPr/>
          <p:nvPr/>
        </p:nvSpPr>
        <p:spPr>
          <a:xfrm>
            <a:off x="855345" y="3550920"/>
            <a:ext cx="2103120" cy="640080"/>
          </a:xfrm>
          <a:prstGeom prst="foldedCorner">
            <a:avLst/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20" name="in_2_label"/>
          <p:cNvSpPr/>
          <p:nvPr/>
        </p:nvSpPr>
        <p:spPr>
          <a:xfrm>
            <a:off x="864870" y="3589401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实验产物</a:t>
            </a:r>
            <a:endParaRPr lang="en-US" sz="1400" dirty="0"/>
          </a:p>
        </p:txBody>
      </p:sp>
      <p:sp>
        <p:nvSpPr>
          <p:cNvPr id="221" name="in_2_sub"/>
          <p:cNvSpPr/>
          <p:nvPr/>
        </p:nvSpPr>
        <p:spPr>
          <a:xfrm>
            <a:off x="855345" y="3889248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数据集 · 运行产物</a:t>
            </a:r>
            <a:endParaRPr lang="en-US" sz="1150" dirty="0"/>
          </a:p>
        </p:txBody>
      </p:sp>
      <p:sp>
        <p:nvSpPr>
          <p:cNvPr id="222" name="tag_c"/>
          <p:cNvSpPr/>
          <p:nvPr/>
        </p:nvSpPr>
        <p:spPr>
          <a:xfrm>
            <a:off x="2976753" y="3477768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150" dirty="0"/>
          </a:p>
        </p:txBody>
      </p:sp>
      <p:sp>
        <p:nvSpPr>
          <p:cNvPr id="223" name="in_2_to_step"/>
          <p:cNvSpPr/>
          <p:nvPr/>
        </p:nvSpPr>
        <p:spPr>
          <a:xfrm>
            <a:off x="2958465" y="3870960"/>
            <a:ext cx="36576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24" name="step_2"/>
          <p:cNvSpPr/>
          <p:nvPr/>
        </p:nvSpPr>
        <p:spPr>
          <a:xfrm>
            <a:off x="3324225" y="3550920"/>
            <a:ext cx="2057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25" name="step_2_label"/>
          <p:cNvSpPr/>
          <p:nvPr/>
        </p:nvSpPr>
        <p:spPr>
          <a:xfrm>
            <a:off x="3362325" y="3589401"/>
            <a:ext cx="2057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按角色登记</a:t>
            </a:r>
            <a:endParaRPr lang="en-US" sz="1400" dirty="0"/>
          </a:p>
        </p:txBody>
      </p:sp>
      <p:sp>
        <p:nvSpPr>
          <p:cNvPr id="226" name="step_2_sub"/>
          <p:cNvSpPr/>
          <p:nvPr/>
        </p:nvSpPr>
        <p:spPr>
          <a:xfrm>
            <a:off x="3324225" y="3889248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 · 开发 · 确认</a:t>
            </a:r>
            <a:endParaRPr lang="en-US" sz="1150" dirty="0"/>
          </a:p>
        </p:txBody>
      </p:sp>
      <p:sp>
        <p:nvSpPr>
          <p:cNvPr id="227" name="step_2_to_reg"/>
          <p:cNvSpPr/>
          <p:nvPr/>
        </p:nvSpPr>
        <p:spPr>
          <a:xfrm>
            <a:off x="5381625" y="3870960"/>
            <a:ext cx="45720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28" name="reg"/>
          <p:cNvSpPr/>
          <p:nvPr/>
        </p:nvSpPr>
        <p:spPr>
          <a:xfrm>
            <a:off x="5762625" y="190500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29" name="reg_title"/>
          <p:cNvSpPr/>
          <p:nvPr/>
        </p:nvSpPr>
        <p:spPr>
          <a:xfrm>
            <a:off x="5829300" y="197815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分源登记表（拟）</a:t>
            </a:r>
            <a:endParaRPr lang="en-US" sz="1500" dirty="0"/>
          </a:p>
        </p:txBody>
      </p:sp>
      <p:sp>
        <p:nvSpPr>
          <p:cNvPr id="230" name="reg_s1"/>
          <p:cNvSpPr/>
          <p:nvPr/>
        </p:nvSpPr>
        <p:spPr>
          <a:xfrm>
            <a:off x="6021705" y="2471928"/>
            <a:ext cx="201168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1" name="reg_s1_t"/>
          <p:cNvSpPr/>
          <p:nvPr/>
        </p:nvSpPr>
        <p:spPr>
          <a:xfrm>
            <a:off x="6021705" y="2471928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 ID</a:t>
            </a:r>
            <a:endParaRPr lang="en-US" sz="1150" dirty="0"/>
          </a:p>
        </p:txBody>
      </p:sp>
      <p:sp>
        <p:nvSpPr>
          <p:cNvPr id="232" name="reg_s2"/>
          <p:cNvSpPr/>
          <p:nvPr/>
        </p:nvSpPr>
        <p:spPr>
          <a:xfrm>
            <a:off x="6021705" y="2892552"/>
            <a:ext cx="201168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3" name="reg_s2_t"/>
          <p:cNvSpPr/>
          <p:nvPr/>
        </p:nvSpPr>
        <p:spPr>
          <a:xfrm>
            <a:off x="6021705" y="2892552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内容摘要</a:t>
            </a:r>
            <a:endParaRPr lang="en-US" sz="1150" dirty="0"/>
          </a:p>
        </p:txBody>
      </p:sp>
      <p:sp>
        <p:nvSpPr>
          <p:cNvPr id="234" name="reg_s3"/>
          <p:cNvSpPr/>
          <p:nvPr/>
        </p:nvSpPr>
        <p:spPr>
          <a:xfrm>
            <a:off x="6021705" y="3313176"/>
            <a:ext cx="201168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5" name="reg_s3_t"/>
          <p:cNvSpPr/>
          <p:nvPr/>
        </p:nvSpPr>
        <p:spPr>
          <a:xfrm>
            <a:off x="6021705" y="3313176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 · 可达性</a:t>
            </a:r>
            <a:endParaRPr lang="en-US" sz="1150" dirty="0"/>
          </a:p>
        </p:txBody>
      </p:sp>
      <p:sp>
        <p:nvSpPr>
          <p:cNvPr id="236" name="reg_note"/>
          <p:cNvSpPr/>
          <p:nvPr/>
        </p:nvSpPr>
        <p:spPr>
          <a:xfrm>
            <a:off x="5838825" y="3733800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只以摘要关联</a:t>
            </a:r>
            <a:endParaRPr lang="en-US" sz="1150" dirty="0"/>
          </a:p>
        </p:txBody>
      </p:sp>
      <p:sp>
        <p:nvSpPr>
          <p:cNvPr id="237" name="reg_to_obj"/>
          <p:cNvSpPr/>
          <p:nvPr/>
        </p:nvSpPr>
        <p:spPr>
          <a:xfrm>
            <a:off x="8216265" y="3048000"/>
            <a:ext cx="41148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38" name="obj"/>
          <p:cNvSpPr/>
          <p:nvPr/>
        </p:nvSpPr>
        <p:spPr>
          <a:xfrm>
            <a:off x="8627745" y="2590800"/>
            <a:ext cx="1691640" cy="91440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39" name="obj_label"/>
          <p:cNvSpPr/>
          <p:nvPr/>
        </p:nvSpPr>
        <p:spPr>
          <a:xfrm>
            <a:off x="8627745" y="2718816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科研对象</a:t>
            </a:r>
            <a:endParaRPr lang="en-US" sz="1400" dirty="0"/>
          </a:p>
        </p:txBody>
      </p:sp>
      <p:sp>
        <p:nvSpPr>
          <p:cNvPr id="240" name="obj_sub"/>
          <p:cNvSpPr/>
          <p:nvPr/>
        </p:nvSpPr>
        <p:spPr>
          <a:xfrm>
            <a:off x="8627745" y="3066288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绑定登记摘要</a:t>
            </a:r>
            <a:endParaRPr lang="en-US" sz="1150" dirty="0"/>
          </a:p>
        </p:txBody>
      </p:sp>
      <p:sp>
        <p:nvSpPr>
          <p:cNvPr id="241" name="obj_list"/>
          <p:cNvSpPr/>
          <p:nvPr/>
        </p:nvSpPr>
        <p:spPr>
          <a:xfrm>
            <a:off x="10492740" y="2487168"/>
            <a:ext cx="158191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如：实验设计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 · 观察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声明</a:t>
            </a:r>
            <a:endParaRPr lang="en-US" sz="1150" dirty="0"/>
          </a:p>
        </p:txBody>
      </p:sp>
      <p:sp>
        <p:nvSpPr>
          <p:cNvPr id="242" name="sealed"/>
          <p:cNvSpPr/>
          <p:nvPr/>
        </p:nvSpPr>
        <p:spPr>
          <a:xfrm>
            <a:off x="8627745" y="3733800"/>
            <a:ext cx="1691640" cy="457200"/>
          </a:xfrm>
          <a:prstGeom prst="foldedCorner">
            <a:avLst/>
          </a:prstGeom>
          <a:solidFill>
            <a:srgbClr val="FAF0EB"/>
          </a:solidFill>
          <a:ln w="12700">
            <a:solidFill>
              <a:srgbClr val="9B4D32"/>
            </a:solidFill>
            <a:prstDash val="solid"/>
          </a:ln>
        </p:spPr>
      </p:sp>
      <p:sp>
        <p:nvSpPr>
          <p:cNvPr id="243" name="sealed_label"/>
          <p:cNvSpPr/>
          <p:nvPr/>
        </p:nvSpPr>
        <p:spPr>
          <a:xfrm>
            <a:off x="8627745" y="373380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确认集 · 封存</a:t>
            </a:r>
            <a:endParaRPr lang="en-US" sz="1400" dirty="0"/>
          </a:p>
        </p:txBody>
      </p:sp>
      <p:sp>
        <p:nvSpPr>
          <p:cNvPr id="244" name="sealed_tie"/>
          <p:cNvSpPr/>
          <p:nvPr/>
        </p:nvSpPr>
        <p:spPr>
          <a:xfrm>
            <a:off x="9473565" y="3505200"/>
            <a:ext cx="0" cy="228600"/>
          </a:xfrm>
          <a:prstGeom prst="line">
            <a:avLst/>
          </a:prstGeom>
          <a:noFill/>
          <a:ln w="12700">
            <a:solidFill>
              <a:srgbClr val="9B4D32"/>
            </a:solidFill>
            <a:prstDash val="dash"/>
          </a:ln>
        </p:spPr>
      </p:sp>
      <p:sp>
        <p:nvSpPr>
          <p:cNvPr id="247" name="merge_block"/>
          <p:cNvSpPr/>
          <p:nvPr/>
        </p:nvSpPr>
        <p:spPr>
          <a:xfrm>
            <a:off x="779145" y="4478655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4D32"/>
            </a:solidFill>
            <a:prstDash val="solid"/>
          </a:ln>
        </p:spPr>
      </p:sp>
      <p:sp>
        <p:nvSpPr>
          <p:cNvPr id="248" name="merge_block_t"/>
          <p:cNvSpPr/>
          <p:nvPr/>
        </p:nvSpPr>
        <p:spPr>
          <a:xfrm>
            <a:off x="779145" y="4497705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×</a:t>
            </a:r>
            <a:endParaRPr lang="en-US" sz="1300" dirty="0"/>
          </a:p>
        </p:txBody>
      </p:sp>
      <p:sp>
        <p:nvSpPr>
          <p:cNvPr id="249" name="merge_label"/>
          <p:cNvSpPr/>
          <p:nvPr/>
        </p:nvSpPr>
        <p:spPr>
          <a:xfrm>
            <a:off x="1190625" y="4515993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三类输入不合并为一段文本、直接生成结论</a:t>
            </a:r>
            <a:endParaRPr lang="en-US" sz="1150" dirty="0"/>
          </a:p>
        </p:txBody>
      </p:sp>
      <p:sp>
        <p:nvSpPr>
          <p:cNvPr id="250" name="detail_rule"/>
          <p:cNvSpPr/>
          <p:nvPr/>
        </p:nvSpPr>
        <p:spPr>
          <a:xfrm>
            <a:off x="502920" y="5165217"/>
            <a:ext cx="1122883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251" name="detail_a_head"/>
          <p:cNvSpPr/>
          <p:nvPr/>
        </p:nvSpPr>
        <p:spPr>
          <a:xfrm>
            <a:off x="502920" y="5333619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文献</a:t>
            </a:r>
            <a:endParaRPr lang="en-US" sz="1200" dirty="0"/>
          </a:p>
        </p:txBody>
      </p:sp>
      <p:sp>
        <p:nvSpPr>
          <p:cNvPr id="252" name="detail_a_body"/>
          <p:cNvSpPr/>
          <p:nvPr/>
        </p:nvSpPr>
        <p:spPr>
          <a:xfrm>
            <a:off x="502920" y="5701665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记录查询范围、来源与全文可达性；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只解析公开可达全文，不可达内容保持未验证</a:t>
            </a:r>
            <a:endParaRPr lang="en-US" sz="1100" dirty="0"/>
          </a:p>
        </p:txBody>
      </p:sp>
      <p:sp>
        <p:nvSpPr>
          <p:cNvPr id="253" name="detail_b_head"/>
          <p:cNvSpPr/>
          <p:nvPr/>
        </p:nvSpPr>
        <p:spPr>
          <a:xfrm>
            <a:off x="4337304" y="5333619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代码修订</a:t>
            </a:r>
            <a:endParaRPr lang="en-US" sz="1200" dirty="0"/>
          </a:p>
        </p:txBody>
      </p:sp>
      <p:sp>
        <p:nvSpPr>
          <p:cNvPr id="254" name="detail_b_body"/>
          <p:cNvSpPr/>
          <p:nvPr/>
        </p:nvSpPr>
        <p:spPr>
          <a:xfrm>
            <a:off x="4337304" y="5701665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以不可变修订及其内容摘要进入运行；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修复产生新修订，不覆盖旧修订</a:t>
            </a:r>
            <a:endParaRPr lang="en-US" sz="1100" dirty="0"/>
          </a:p>
        </p:txBody>
      </p:sp>
      <p:sp>
        <p:nvSpPr>
          <p:cNvPr id="255" name="detail_c_head"/>
          <p:cNvSpPr/>
          <p:nvPr/>
        </p:nvSpPr>
        <p:spPr>
          <a:xfrm>
            <a:off x="8171688" y="5333619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 实验产物</a:t>
            </a:r>
            <a:endParaRPr lang="en-US" sz="1200" dirty="0"/>
          </a:p>
        </p:txBody>
      </p:sp>
      <p:sp>
        <p:nvSpPr>
          <p:cNvPr id="256" name="detail_c_body"/>
          <p:cNvSpPr/>
          <p:nvPr/>
        </p:nvSpPr>
        <p:spPr>
          <a:xfrm>
            <a:off x="8171688" y="5701665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数据集与运行产物按训练 / 开发 / 确认登记摘要；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确认集封存，并绑定到相应科研对象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38684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· 研究内容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2" name="Text 9"/>
          <p:cNvSpPr/>
          <p:nvPr/>
        </p:nvSpPr>
        <p:spPr>
          <a:xfrm>
            <a:off x="713232" y="914400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任务二：智能体只能提议，内核裁决后由唯一写入方写入</a:t>
            </a:r>
            <a:endParaRPr lang="en-US" sz="1900" dirty="0"/>
          </a:p>
        </p:txBody>
      </p:sp>
      <p:sp>
        <p:nvSpPr>
          <p:cNvPr id="200" name="note_boundary"/>
          <p:cNvSpPr/>
          <p:nvPr/>
        </p:nvSpPr>
        <p:spPr>
          <a:xfrm>
            <a:off x="502920" y="164592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每类对象只有一个权威写入方；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写入凭据由存储签发，调用方无法冒充</a:t>
            </a:r>
            <a:endParaRPr lang="en-US" sz="1150" dirty="0"/>
          </a:p>
        </p:txBody>
      </p:sp>
      <p:sp>
        <p:nvSpPr>
          <p:cNvPr id="201" name="agent_note"/>
          <p:cNvSpPr/>
          <p:nvPr/>
        </p:nvSpPr>
        <p:spPr>
          <a:xfrm>
            <a:off x="502920" y="228600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不能写观察、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分数与判断</a:t>
            </a:r>
            <a:endParaRPr lang="en-US" sz="1150" dirty="0"/>
          </a:p>
        </p:txBody>
      </p:sp>
      <p:sp>
        <p:nvSpPr>
          <p:cNvPr id="202" name="agent"/>
          <p:cNvSpPr/>
          <p:nvPr/>
        </p:nvSpPr>
        <p:spPr>
          <a:xfrm>
            <a:off x="502920" y="283464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03" name="agent_label"/>
          <p:cNvSpPr/>
          <p:nvPr/>
        </p:nvSpPr>
        <p:spPr>
          <a:xfrm>
            <a:off x="502920" y="2962656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</a:t>
            </a:r>
            <a:endParaRPr lang="en-US" sz="1400" dirty="0"/>
          </a:p>
        </p:txBody>
      </p:sp>
      <p:sp>
        <p:nvSpPr>
          <p:cNvPr id="204" name="agent_sub"/>
          <p:cNvSpPr/>
          <p:nvPr/>
        </p:nvSpPr>
        <p:spPr>
          <a:xfrm>
            <a:off x="502920" y="3310128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只能提议</a:t>
            </a:r>
            <a:endParaRPr lang="en-US" sz="1150" dirty="0"/>
          </a:p>
        </p:txBody>
      </p:sp>
      <p:sp>
        <p:nvSpPr>
          <p:cNvPr id="205" name="agent_to_gate"/>
          <p:cNvSpPr/>
          <p:nvPr/>
        </p:nvSpPr>
        <p:spPr>
          <a:xfrm>
            <a:off x="2057400" y="3291840"/>
            <a:ext cx="64008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06" name="propose_label"/>
          <p:cNvSpPr/>
          <p:nvPr/>
        </p:nvSpPr>
        <p:spPr>
          <a:xfrm>
            <a:off x="2057400" y="296265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提议</a:t>
            </a:r>
            <a:endParaRPr lang="en-US" sz="1150" dirty="0"/>
          </a:p>
        </p:txBody>
      </p:sp>
      <p:sp>
        <p:nvSpPr>
          <p:cNvPr id="207" name="gate_title"/>
          <p:cNvSpPr/>
          <p:nvPr/>
        </p:nvSpPr>
        <p:spPr>
          <a:xfrm>
            <a:off x="2377440" y="2130552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内核裁决</a:t>
            </a:r>
            <a:endParaRPr lang="en-US" sz="1400" dirty="0"/>
          </a:p>
        </p:txBody>
      </p:sp>
      <p:sp>
        <p:nvSpPr>
          <p:cNvPr id="208" name="gate"/>
          <p:cNvSpPr/>
          <p:nvPr/>
        </p:nvSpPr>
        <p:spPr>
          <a:xfrm>
            <a:off x="2697480" y="2514600"/>
            <a:ext cx="1554480" cy="1554480"/>
          </a:xfrm>
          <a:prstGeom prst="ellipse">
            <a:avLst/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09" name="gate_q1"/>
          <p:cNvSpPr/>
          <p:nvPr/>
        </p:nvSpPr>
        <p:spPr>
          <a:xfrm>
            <a:off x="2944368" y="2862072"/>
            <a:ext cx="1060704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0" name="gate_q1_t"/>
          <p:cNvSpPr/>
          <p:nvPr/>
        </p:nvSpPr>
        <p:spPr>
          <a:xfrm>
            <a:off x="2944368" y="2862072"/>
            <a:ext cx="106070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合法转移？</a:t>
            </a:r>
            <a:endParaRPr lang="en-US" sz="1150" dirty="0"/>
          </a:p>
        </p:txBody>
      </p:sp>
      <p:sp>
        <p:nvSpPr>
          <p:cNvPr id="211" name="gate_q2"/>
          <p:cNvSpPr/>
          <p:nvPr/>
        </p:nvSpPr>
        <p:spPr>
          <a:xfrm>
            <a:off x="2944368" y="3392424"/>
            <a:ext cx="1060704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2" name="gate_q2_t"/>
          <p:cNvSpPr/>
          <p:nvPr/>
        </p:nvSpPr>
        <p:spPr>
          <a:xfrm>
            <a:off x="2944368" y="3392424"/>
            <a:ext cx="106070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持写入凭据？</a:t>
            </a:r>
            <a:endParaRPr lang="en-US" sz="1150" dirty="0"/>
          </a:p>
        </p:txBody>
      </p:sp>
      <p:sp>
        <p:nvSpPr>
          <p:cNvPr id="213" name="accept_main"/>
          <p:cNvSpPr/>
          <p:nvPr/>
        </p:nvSpPr>
        <p:spPr>
          <a:xfrm>
            <a:off x="4251960" y="3291840"/>
            <a:ext cx="45720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</a:ln>
        </p:spPr>
      </p:sp>
      <p:sp>
        <p:nvSpPr>
          <p:cNvPr id="214" name="accept_label"/>
          <p:cNvSpPr/>
          <p:nvPr/>
        </p:nvSpPr>
        <p:spPr>
          <a:xfrm>
            <a:off x="4224528" y="2962656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合法</a:t>
            </a:r>
            <a:endParaRPr lang="en-US" sz="1150" dirty="0"/>
          </a:p>
        </p:txBody>
      </p:sp>
      <p:sp>
        <p:nvSpPr>
          <p:cNvPr id="215" name="bus"/>
          <p:cNvSpPr/>
          <p:nvPr/>
        </p:nvSpPr>
        <p:spPr>
          <a:xfrm>
            <a:off x="4709160" y="2240280"/>
            <a:ext cx="0" cy="210312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</a:ln>
        </p:spPr>
      </p:sp>
      <p:sp>
        <p:nvSpPr>
          <p:cNvPr id="216" name="writer_store_in"/>
          <p:cNvSpPr/>
          <p:nvPr/>
        </p:nvSpPr>
        <p:spPr>
          <a:xfrm>
            <a:off x="4709160" y="2240280"/>
            <a:ext cx="27432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17" name="writer_store"/>
          <p:cNvSpPr/>
          <p:nvPr/>
        </p:nvSpPr>
        <p:spPr>
          <a:xfrm>
            <a:off x="4983480" y="1874520"/>
            <a:ext cx="1508760" cy="73152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18" name="writer_store_label"/>
          <p:cNvSpPr/>
          <p:nvPr/>
        </p:nvSpPr>
        <p:spPr>
          <a:xfrm>
            <a:off x="4983480" y="1874520"/>
            <a:ext cx="15087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研究存储</a:t>
            </a:r>
            <a:endParaRPr lang="en-US" sz="1400" dirty="0"/>
          </a:p>
        </p:txBody>
      </p:sp>
      <p:sp>
        <p:nvSpPr>
          <p:cNvPr id="219" name="writer_store_to_obj"/>
          <p:cNvSpPr/>
          <p:nvPr/>
        </p:nvSpPr>
        <p:spPr>
          <a:xfrm>
            <a:off x="6492240" y="2240280"/>
            <a:ext cx="32004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20" name="writer_store_obj"/>
          <p:cNvSpPr/>
          <p:nvPr/>
        </p:nvSpPr>
        <p:spPr>
          <a:xfrm>
            <a:off x="6991350" y="187452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 · 假设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 · 决策</a:t>
            </a:r>
            <a:endParaRPr lang="en-US" sz="1400" dirty="0"/>
          </a:p>
        </p:txBody>
      </p:sp>
      <p:sp>
        <p:nvSpPr>
          <p:cNvPr id="221" name="row_rule_0"/>
          <p:cNvSpPr/>
          <p:nvPr/>
        </p:nvSpPr>
        <p:spPr>
          <a:xfrm>
            <a:off x="4983480" y="2766060"/>
            <a:ext cx="6748272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22" name="writer_eval_in"/>
          <p:cNvSpPr/>
          <p:nvPr/>
        </p:nvSpPr>
        <p:spPr>
          <a:xfrm>
            <a:off x="4709160" y="3291840"/>
            <a:ext cx="27432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23" name="writer_eval"/>
          <p:cNvSpPr/>
          <p:nvPr/>
        </p:nvSpPr>
        <p:spPr>
          <a:xfrm>
            <a:off x="4983480" y="2926080"/>
            <a:ext cx="1508760" cy="73152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24" name="writer_eval_label"/>
          <p:cNvSpPr/>
          <p:nvPr/>
        </p:nvSpPr>
        <p:spPr>
          <a:xfrm>
            <a:off x="4983480" y="2926080"/>
            <a:ext cx="15087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独立评估</a:t>
            </a:r>
            <a:endParaRPr lang="en-US" sz="1400" dirty="0"/>
          </a:p>
        </p:txBody>
      </p:sp>
      <p:sp>
        <p:nvSpPr>
          <p:cNvPr id="225" name="writer_eval_to_obj"/>
          <p:cNvSpPr/>
          <p:nvPr/>
        </p:nvSpPr>
        <p:spPr>
          <a:xfrm>
            <a:off x="6492240" y="3291840"/>
            <a:ext cx="32004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26" name="writer_eval_obj"/>
          <p:cNvSpPr/>
          <p:nvPr/>
        </p:nvSpPr>
        <p:spPr>
          <a:xfrm>
            <a:off x="6991350" y="292608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科学判断</a:t>
            </a:r>
            <a:endParaRPr lang="en-US" sz="1400" dirty="0"/>
          </a:p>
        </p:txBody>
      </p:sp>
      <p:sp>
        <p:nvSpPr>
          <p:cNvPr id="227" name="row_rule_1"/>
          <p:cNvSpPr/>
          <p:nvPr/>
        </p:nvSpPr>
        <p:spPr>
          <a:xfrm>
            <a:off x="4983480" y="3817620"/>
            <a:ext cx="6748272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28" name="writer_ctrl_in"/>
          <p:cNvSpPr/>
          <p:nvPr/>
        </p:nvSpPr>
        <p:spPr>
          <a:xfrm>
            <a:off x="4709160" y="4343400"/>
            <a:ext cx="27432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29" name="writer_ctrl"/>
          <p:cNvSpPr/>
          <p:nvPr/>
        </p:nvSpPr>
        <p:spPr>
          <a:xfrm>
            <a:off x="4983480" y="3977640"/>
            <a:ext cx="1508760" cy="73152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30" name="writer_ctrl_label"/>
          <p:cNvSpPr/>
          <p:nvPr/>
        </p:nvSpPr>
        <p:spPr>
          <a:xfrm>
            <a:off x="4983480" y="3977640"/>
            <a:ext cx="15087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编排控制器</a:t>
            </a:r>
            <a:endParaRPr lang="en-US" sz="1400" dirty="0"/>
          </a:p>
        </p:txBody>
      </p:sp>
      <p:sp>
        <p:nvSpPr>
          <p:cNvPr id="231" name="writer_ctrl_to_obj"/>
          <p:cNvSpPr/>
          <p:nvPr/>
        </p:nvSpPr>
        <p:spPr>
          <a:xfrm>
            <a:off x="6492240" y="4343400"/>
            <a:ext cx="32004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32" name="writer_ctrl_obj"/>
          <p:cNvSpPr/>
          <p:nvPr/>
        </p:nvSpPr>
        <p:spPr>
          <a:xfrm>
            <a:off x="6991350" y="3977640"/>
            <a:ext cx="1691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声明</a:t>
            </a:r>
            <a:endParaRPr lang="en-US" sz="1400" dirty="0"/>
          </a:p>
        </p:txBody>
      </p:sp>
      <p:sp>
        <p:nvSpPr>
          <p:cNvPr id="233" name="sm_design_k"/>
          <p:cNvSpPr/>
          <p:nvPr/>
        </p:nvSpPr>
        <p:spPr>
          <a:xfrm>
            <a:off x="8641080" y="187452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实验设计</a:t>
            </a:r>
            <a:endParaRPr lang="en-US" sz="1150" dirty="0"/>
          </a:p>
        </p:txBody>
      </p:sp>
      <p:sp>
        <p:nvSpPr>
          <p:cNvPr id="234" name="sm_draft"/>
          <p:cNvSpPr/>
          <p:nvPr/>
        </p:nvSpPr>
        <p:spPr>
          <a:xfrm>
            <a:off x="8641080" y="2148840"/>
            <a:ext cx="82296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35" name="sm_draft_t"/>
          <p:cNvSpPr/>
          <p:nvPr/>
        </p:nvSpPr>
        <p:spPr>
          <a:xfrm>
            <a:off x="8641080" y="2148840"/>
            <a:ext cx="822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草稿</a:t>
            </a:r>
            <a:endParaRPr lang="en-US" sz="1150" dirty="0"/>
          </a:p>
        </p:txBody>
      </p:sp>
      <p:sp>
        <p:nvSpPr>
          <p:cNvPr id="236" name="sm_d1"/>
          <p:cNvSpPr/>
          <p:nvPr/>
        </p:nvSpPr>
        <p:spPr>
          <a:xfrm>
            <a:off x="9464040" y="2313432"/>
            <a:ext cx="320040" cy="0"/>
          </a:xfrm>
          <a:prstGeom prst="line">
            <a:avLst/>
          </a:prstGeom>
          <a:noFill/>
          <a:ln w="1587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37" name="sm_frozen"/>
          <p:cNvSpPr/>
          <p:nvPr/>
        </p:nvSpPr>
        <p:spPr>
          <a:xfrm>
            <a:off x="9784080" y="2148840"/>
            <a:ext cx="822960" cy="329184"/>
          </a:xfrm>
          <a:prstGeom prst="roundRect">
            <a:avLst>
              <a:gd name="adj" fmla="val 25000"/>
            </a:avLst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38" name="sm_frozen_t"/>
          <p:cNvSpPr/>
          <p:nvPr/>
        </p:nvSpPr>
        <p:spPr>
          <a:xfrm>
            <a:off x="9784080" y="2148840"/>
            <a:ext cx="822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</a:t>
            </a:r>
            <a:endParaRPr lang="en-US" sz="1150" dirty="0"/>
          </a:p>
        </p:txBody>
      </p:sp>
      <p:sp>
        <p:nvSpPr>
          <p:cNvPr id="239" name="sm_frozen_note"/>
          <p:cNvSpPr/>
          <p:nvPr/>
        </p:nvSpPr>
        <p:spPr>
          <a:xfrm>
            <a:off x="10698480" y="2148840"/>
            <a:ext cx="10332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不可更改</a:t>
            </a:r>
            <a:endParaRPr lang="en-US" sz="1150" dirty="0"/>
          </a:p>
        </p:txBody>
      </p:sp>
      <p:sp>
        <p:nvSpPr>
          <p:cNvPr id="240" name="sm_judge_k"/>
          <p:cNvSpPr/>
          <p:nvPr/>
        </p:nvSpPr>
        <p:spPr>
          <a:xfrm>
            <a:off x="8641080" y="292608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科学判断</a:t>
            </a:r>
            <a:endParaRPr lang="en-US" sz="1150" dirty="0"/>
          </a:p>
        </p:txBody>
      </p:sp>
      <p:sp>
        <p:nvSpPr>
          <p:cNvPr id="241" name="sm_sup"/>
          <p:cNvSpPr/>
          <p:nvPr/>
        </p:nvSpPr>
        <p:spPr>
          <a:xfrm>
            <a:off x="8641080" y="3200400"/>
            <a:ext cx="77724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42" name="sm_sup_t"/>
          <p:cNvSpPr/>
          <p:nvPr/>
        </p:nvSpPr>
        <p:spPr>
          <a:xfrm>
            <a:off x="8641080" y="3200400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</a:t>
            </a:r>
            <a:endParaRPr lang="en-US" sz="1150" dirty="0"/>
          </a:p>
        </p:txBody>
      </p:sp>
      <p:sp>
        <p:nvSpPr>
          <p:cNvPr id="243" name="sm_ref"/>
          <p:cNvSpPr/>
          <p:nvPr/>
        </p:nvSpPr>
        <p:spPr>
          <a:xfrm>
            <a:off x="9509760" y="3200400"/>
            <a:ext cx="77724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44" name="sm_ref_t"/>
          <p:cNvSpPr/>
          <p:nvPr/>
        </p:nvSpPr>
        <p:spPr>
          <a:xfrm>
            <a:off x="9509760" y="3200400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反驳</a:t>
            </a:r>
            <a:endParaRPr lang="en-US" sz="1150" dirty="0"/>
          </a:p>
        </p:txBody>
      </p:sp>
      <p:sp>
        <p:nvSpPr>
          <p:cNvPr id="245" name="sm_inc"/>
          <p:cNvSpPr/>
          <p:nvPr/>
        </p:nvSpPr>
        <p:spPr>
          <a:xfrm>
            <a:off x="10378440" y="3200400"/>
            <a:ext cx="109728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46" name="sm_inc_t"/>
          <p:cNvSpPr/>
          <p:nvPr/>
        </p:nvSpPr>
        <p:spPr>
          <a:xfrm>
            <a:off x="10378440" y="3200400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证据不足</a:t>
            </a:r>
            <a:endParaRPr lang="en-US" sz="1150" dirty="0"/>
          </a:p>
        </p:txBody>
      </p:sp>
      <p:sp>
        <p:nvSpPr>
          <p:cNvPr id="247" name="sm_run_k"/>
          <p:cNvSpPr/>
          <p:nvPr/>
        </p:nvSpPr>
        <p:spPr>
          <a:xfrm>
            <a:off x="8641080" y="397764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</a:t>
            </a:r>
            <a:endParaRPr lang="en-US" sz="1150" dirty="0"/>
          </a:p>
        </p:txBody>
      </p:sp>
      <p:sp>
        <p:nvSpPr>
          <p:cNvPr id="248" name="sm_queued"/>
          <p:cNvSpPr/>
          <p:nvPr/>
        </p:nvSpPr>
        <p:spPr>
          <a:xfrm>
            <a:off x="8641080" y="4251960"/>
            <a:ext cx="73152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49" name="sm_queued_t"/>
          <p:cNvSpPr/>
          <p:nvPr/>
        </p:nvSpPr>
        <p:spPr>
          <a:xfrm>
            <a:off x="8641080" y="4251960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排队</a:t>
            </a:r>
            <a:endParaRPr lang="en-US" sz="1150" dirty="0"/>
          </a:p>
        </p:txBody>
      </p:sp>
      <p:sp>
        <p:nvSpPr>
          <p:cNvPr id="250" name="sm_r1"/>
          <p:cNvSpPr/>
          <p:nvPr/>
        </p:nvSpPr>
        <p:spPr>
          <a:xfrm>
            <a:off x="9372600" y="4416552"/>
            <a:ext cx="228600" cy="0"/>
          </a:xfrm>
          <a:prstGeom prst="line">
            <a:avLst/>
          </a:prstGeom>
          <a:noFill/>
          <a:ln w="1587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51" name="sm_running"/>
          <p:cNvSpPr/>
          <p:nvPr/>
        </p:nvSpPr>
        <p:spPr>
          <a:xfrm>
            <a:off x="9601200" y="4251960"/>
            <a:ext cx="86868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52" name="sm_running_t"/>
          <p:cNvSpPr/>
          <p:nvPr/>
        </p:nvSpPr>
        <p:spPr>
          <a:xfrm>
            <a:off x="9601200" y="4251960"/>
            <a:ext cx="868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运行中</a:t>
            </a:r>
            <a:endParaRPr lang="en-US" sz="1150" dirty="0"/>
          </a:p>
        </p:txBody>
      </p:sp>
      <p:sp>
        <p:nvSpPr>
          <p:cNvPr id="253" name="sm_r2"/>
          <p:cNvSpPr/>
          <p:nvPr/>
        </p:nvSpPr>
        <p:spPr>
          <a:xfrm>
            <a:off x="10469880" y="4416552"/>
            <a:ext cx="228600" cy="0"/>
          </a:xfrm>
          <a:prstGeom prst="line">
            <a:avLst/>
          </a:prstGeom>
          <a:noFill/>
          <a:ln w="1587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54" name="sm_terminal"/>
          <p:cNvSpPr/>
          <p:nvPr/>
        </p:nvSpPr>
        <p:spPr>
          <a:xfrm>
            <a:off x="10698480" y="4251960"/>
            <a:ext cx="1033272" cy="329184"/>
          </a:xfrm>
          <a:prstGeom prst="roundRect">
            <a:avLst>
              <a:gd name="adj" fmla="val 25000"/>
            </a:avLst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55" name="sm_terminal_t"/>
          <p:cNvSpPr/>
          <p:nvPr/>
        </p:nvSpPr>
        <p:spPr>
          <a:xfrm>
            <a:off x="10698480" y="4251960"/>
            <a:ext cx="10332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终态</a:t>
            </a:r>
            <a:endParaRPr lang="en-US" sz="1150" dirty="0"/>
          </a:p>
        </p:txBody>
      </p:sp>
      <p:sp>
        <p:nvSpPr>
          <p:cNvPr id="256" name="reject_loop_0"/>
          <p:cNvSpPr/>
          <p:nvPr/>
        </p:nvSpPr>
        <p:spPr>
          <a:xfrm>
            <a:off x="3474720" y="4069080"/>
            <a:ext cx="0" cy="594360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</a:ln>
        </p:spPr>
      </p:sp>
      <p:sp>
        <p:nvSpPr>
          <p:cNvPr id="257" name="reject_loop_1"/>
          <p:cNvSpPr/>
          <p:nvPr/>
        </p:nvSpPr>
        <p:spPr>
          <a:xfrm>
            <a:off x="1280160" y="4663440"/>
            <a:ext cx="2194560" cy="0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</a:ln>
        </p:spPr>
      </p:sp>
      <p:sp>
        <p:nvSpPr>
          <p:cNvPr id="258" name="reject_loop_2"/>
          <p:cNvSpPr/>
          <p:nvPr/>
        </p:nvSpPr>
        <p:spPr>
          <a:xfrm>
            <a:off x="1280160" y="3749040"/>
            <a:ext cx="0" cy="914400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  <a:headEnd type="triangle"/>
          </a:ln>
        </p:spPr>
      </p:sp>
      <p:sp>
        <p:nvSpPr>
          <p:cNvPr id="259" name="reject_label"/>
          <p:cNvSpPr/>
          <p:nvPr/>
        </p:nvSpPr>
        <p:spPr>
          <a:xfrm>
            <a:off x="1057275" y="4785741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非法转移 → 整体回滚，返回合法动作集</a:t>
            </a:r>
            <a:endParaRPr lang="en-US" sz="1150" dirty="0"/>
          </a:p>
        </p:txBody>
      </p:sp>
      <p:sp>
        <p:nvSpPr>
          <p:cNvPr id="260" name="chain_note"/>
          <p:cNvSpPr/>
          <p:nvPr/>
        </p:nvSpPr>
        <p:spPr>
          <a:xfrm>
            <a:off x="4983480" y="4784217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每次权威写入同时追加到事件哈希链</a:t>
            </a:r>
            <a:endParaRPr lang="en-US" sz="1150" dirty="0"/>
          </a:p>
        </p:txBody>
      </p:sp>
      <p:sp>
        <p:nvSpPr>
          <p:cNvPr id="261" name="chain_0"/>
          <p:cNvSpPr/>
          <p:nvPr/>
        </p:nvSpPr>
        <p:spPr>
          <a:xfrm>
            <a:off x="8732520" y="4775073"/>
            <a:ext cx="32918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62" name="chain_l0"/>
          <p:cNvSpPr/>
          <p:nvPr/>
        </p:nvSpPr>
        <p:spPr>
          <a:xfrm>
            <a:off x="9061704" y="4921377"/>
            <a:ext cx="274320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63" name="chain_1"/>
          <p:cNvSpPr/>
          <p:nvPr/>
        </p:nvSpPr>
        <p:spPr>
          <a:xfrm>
            <a:off x="9336024" y="4775073"/>
            <a:ext cx="32918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64" name="chain_l1"/>
          <p:cNvSpPr/>
          <p:nvPr/>
        </p:nvSpPr>
        <p:spPr>
          <a:xfrm>
            <a:off x="9665208" y="4921377"/>
            <a:ext cx="274320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65" name="chain_2"/>
          <p:cNvSpPr/>
          <p:nvPr/>
        </p:nvSpPr>
        <p:spPr>
          <a:xfrm>
            <a:off x="9939528" y="4775073"/>
            <a:ext cx="32918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66" name="chain_l2"/>
          <p:cNvSpPr/>
          <p:nvPr/>
        </p:nvSpPr>
        <p:spPr>
          <a:xfrm>
            <a:off x="10268712" y="4921377"/>
            <a:ext cx="274320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67" name="chain_3"/>
          <p:cNvSpPr/>
          <p:nvPr/>
        </p:nvSpPr>
        <p:spPr>
          <a:xfrm>
            <a:off x="10543032" y="4775073"/>
            <a:ext cx="32918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68" name="chain_l3"/>
          <p:cNvSpPr/>
          <p:nvPr/>
        </p:nvSpPr>
        <p:spPr>
          <a:xfrm>
            <a:off x="10872216" y="4921377"/>
            <a:ext cx="274320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69" name="chain_4"/>
          <p:cNvSpPr/>
          <p:nvPr/>
        </p:nvSpPr>
        <p:spPr>
          <a:xfrm>
            <a:off x="11146536" y="4775073"/>
            <a:ext cx="329184" cy="292608"/>
          </a:xfrm>
          <a:prstGeom prst="rect">
            <a:avLst/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70" name="detail_rule"/>
          <p:cNvSpPr/>
          <p:nvPr/>
        </p:nvSpPr>
        <p:spPr>
          <a:xfrm>
            <a:off x="502920" y="5193792"/>
            <a:ext cx="1122883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271" name="detail_a_head"/>
          <p:cNvSpPr/>
          <p:nvPr/>
        </p:nvSpPr>
        <p:spPr>
          <a:xfrm>
            <a:off x="502920" y="5352669"/>
            <a:ext cx="54772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对象状态机（拟）</a:t>
            </a:r>
            <a:endParaRPr lang="en-US" sz="1200" dirty="0"/>
          </a:p>
        </p:txBody>
      </p:sp>
      <p:sp>
        <p:nvSpPr>
          <p:cNvPr id="272" name="detail_a_body"/>
          <p:cNvSpPr/>
          <p:nvPr/>
        </p:nvSpPr>
        <p:spPr>
          <a:xfrm>
            <a:off x="502920" y="5711190"/>
            <a:ext cx="5477256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假设：未检验 → 范围内支持 / 范围内反驳 / 证据不足 / 退役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实验设计：草稿 → 冻结，冻结后不可更改</a:t>
            </a:r>
            <a:endParaRPr lang="en-US" sz="1100" dirty="0"/>
          </a:p>
        </p:txBody>
      </p:sp>
      <p:sp>
        <p:nvSpPr>
          <p:cNvPr id="273" name="detail_b_head"/>
          <p:cNvSpPr/>
          <p:nvPr/>
        </p:nvSpPr>
        <p:spPr>
          <a:xfrm>
            <a:off x="6254496" y="5352669"/>
            <a:ext cx="54772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运行终态与写入边界</a:t>
            </a:r>
            <a:endParaRPr lang="en-US" sz="1200" dirty="0"/>
          </a:p>
        </p:txBody>
      </p:sp>
      <p:sp>
        <p:nvSpPr>
          <p:cNvPr id="274" name="detail_b_body"/>
          <p:cNvSpPr/>
          <p:nvPr/>
        </p:nvSpPr>
        <p:spPr>
          <a:xfrm>
            <a:off x="6254496" y="5711190"/>
            <a:ext cx="5477256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运行：排队 → 运行中 → 成功 / 基础设施失败 / 实现失败 / 取消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排队时可直接取消；修复产生新修订与新运行；同一幂等键不重复写入</a:t>
            </a:r>
            <a:endParaRPr lang="en-US" sz="1100" dirty="0"/>
          </a:p>
        </p:txBody>
      </p:sp>
      <p:sp>
        <p:nvSpPr>
          <p:cNvPr id="275" name="tag_a"/>
          <p:cNvSpPr/>
          <p:nvPr/>
        </p:nvSpPr>
        <p:spPr>
          <a:xfrm>
            <a:off x="11475720" y="182880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276" name="tag_b"/>
          <p:cNvSpPr/>
          <p:nvPr/>
        </p:nvSpPr>
        <p:spPr>
          <a:xfrm>
            <a:off x="11475720" y="393192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29159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· 研究内容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15837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2" name="Text 9"/>
          <p:cNvSpPr/>
          <p:nvPr/>
        </p:nvSpPr>
        <p:spPr>
          <a:xfrm>
            <a:off x="713232" y="914400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任务三：搜索只用开发数据，冻结后确认数据只打开一次</a:t>
            </a:r>
            <a:endParaRPr lang="en-US" sz="1900" dirty="0"/>
          </a:p>
        </p:txBody>
      </p:sp>
      <p:sp>
        <p:nvSpPr>
          <p:cNvPr id="200" name="note_boundary"/>
          <p:cNvSpPr/>
          <p:nvPr/>
        </p:nvSpPr>
        <p:spPr>
          <a:xfrm>
            <a:off x="502920" y="164592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执行与评估分离：运行绑定源码与输入快照，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分数只由独立评估器重算</a:t>
            </a:r>
            <a:endParaRPr lang="en-US" sz="1150" dirty="0"/>
          </a:p>
        </p:txBody>
      </p:sp>
      <p:sp>
        <p:nvSpPr>
          <p:cNvPr id="201" name="dev_data"/>
          <p:cNvSpPr/>
          <p:nvPr/>
        </p:nvSpPr>
        <p:spPr>
          <a:xfrm>
            <a:off x="502920" y="2905125"/>
            <a:ext cx="1234440" cy="822960"/>
          </a:xfrm>
          <a:prstGeom prst="foldedCorner">
            <a:avLst/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02" name="dev_data_label"/>
          <p:cNvSpPr/>
          <p:nvPr/>
        </p:nvSpPr>
        <p:spPr>
          <a:xfrm>
            <a:off x="502920" y="2905125"/>
            <a:ext cx="1234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开发数据</a:t>
            </a:r>
            <a:endParaRPr lang="en-US" sz="1400" dirty="0"/>
          </a:p>
        </p:txBody>
      </p:sp>
      <p:sp>
        <p:nvSpPr>
          <p:cNvPr id="203" name="data_to_search"/>
          <p:cNvSpPr/>
          <p:nvPr/>
        </p:nvSpPr>
        <p:spPr>
          <a:xfrm>
            <a:off x="1737360" y="3316605"/>
            <a:ext cx="36576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04" name="search"/>
          <p:cNvSpPr/>
          <p:nvPr/>
        </p:nvSpPr>
        <p:spPr>
          <a:xfrm>
            <a:off x="2103120" y="2859405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05" name="search_label"/>
          <p:cNvSpPr/>
          <p:nvPr/>
        </p:nvSpPr>
        <p:spPr>
          <a:xfrm>
            <a:off x="2103120" y="2987421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</a:t>
            </a:r>
            <a:endParaRPr lang="en-US" sz="1400" dirty="0"/>
          </a:p>
        </p:txBody>
      </p:sp>
      <p:sp>
        <p:nvSpPr>
          <p:cNvPr id="206" name="search_sub"/>
          <p:cNvSpPr/>
          <p:nvPr/>
        </p:nvSpPr>
        <p:spPr>
          <a:xfrm>
            <a:off x="2103120" y="3334893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提议 → 运行 → 评估</a:t>
            </a:r>
            <a:endParaRPr lang="en-US" sz="1150" dirty="0"/>
          </a:p>
        </p:txBody>
      </p:sp>
      <p:sp>
        <p:nvSpPr>
          <p:cNvPr id="207" name="tag_a"/>
          <p:cNvSpPr/>
          <p:nvPr/>
        </p:nvSpPr>
        <p:spPr>
          <a:xfrm>
            <a:off x="3950208" y="2603373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208" name="search_loop_0"/>
          <p:cNvSpPr/>
          <p:nvPr/>
        </p:nvSpPr>
        <p:spPr>
          <a:xfrm>
            <a:off x="3566160" y="2493645"/>
            <a:ext cx="0" cy="365760"/>
          </a:xfrm>
          <a:prstGeom prst="line">
            <a:avLst/>
          </a:prstGeom>
          <a:noFill/>
          <a:ln w="19050">
            <a:solidFill>
              <a:srgbClr val="52636A"/>
            </a:solidFill>
            <a:prstDash val="solid"/>
          </a:ln>
        </p:spPr>
      </p:sp>
      <p:sp>
        <p:nvSpPr>
          <p:cNvPr id="209" name="search_loop_1"/>
          <p:cNvSpPr/>
          <p:nvPr/>
        </p:nvSpPr>
        <p:spPr>
          <a:xfrm>
            <a:off x="2468880" y="2493645"/>
            <a:ext cx="1097280" cy="0"/>
          </a:xfrm>
          <a:prstGeom prst="line">
            <a:avLst/>
          </a:prstGeom>
          <a:noFill/>
          <a:ln w="19050">
            <a:solidFill>
              <a:srgbClr val="52636A"/>
            </a:solidFill>
            <a:prstDash val="solid"/>
          </a:ln>
        </p:spPr>
      </p:sp>
      <p:sp>
        <p:nvSpPr>
          <p:cNvPr id="210" name="search_loop_2"/>
          <p:cNvSpPr/>
          <p:nvPr/>
        </p:nvSpPr>
        <p:spPr>
          <a:xfrm>
            <a:off x="2468880" y="2493645"/>
            <a:ext cx="0" cy="365760"/>
          </a:xfrm>
          <a:prstGeom prst="line">
            <a:avLst/>
          </a:prstGeom>
          <a:noFill/>
          <a:ln w="19050">
            <a:solidFill>
              <a:srgbClr val="52636A"/>
            </a:solidFill>
            <a:prstDash val="solid"/>
            <a:tailEnd type="triangle"/>
          </a:ln>
        </p:spPr>
      </p:sp>
      <p:sp>
        <p:nvSpPr>
          <p:cNvPr id="211" name="loop_label"/>
          <p:cNvSpPr/>
          <p:nvPr/>
        </p:nvSpPr>
        <p:spPr>
          <a:xfrm>
            <a:off x="2468880" y="2182749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多轮迭代</a:t>
            </a:r>
            <a:endParaRPr lang="en-US" sz="1150" dirty="0"/>
          </a:p>
        </p:txBody>
      </p:sp>
      <p:sp>
        <p:nvSpPr>
          <p:cNvPr id="212" name="search_to_freeze"/>
          <p:cNvSpPr/>
          <p:nvPr/>
        </p:nvSpPr>
        <p:spPr>
          <a:xfrm>
            <a:off x="3931920" y="3316605"/>
            <a:ext cx="36576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3" name="freeze"/>
          <p:cNvSpPr/>
          <p:nvPr/>
        </p:nvSpPr>
        <p:spPr>
          <a:xfrm>
            <a:off x="4297680" y="2859405"/>
            <a:ext cx="1463040" cy="914400"/>
          </a:xfrm>
          <a:prstGeom prst="rect">
            <a:avLst/>
          </a:prstGeom>
          <a:solidFill>
            <a:srgbClr val="F2F5F6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14" name="freeze_label"/>
          <p:cNvSpPr/>
          <p:nvPr/>
        </p:nvSpPr>
        <p:spPr>
          <a:xfrm>
            <a:off x="4297680" y="2987421"/>
            <a:ext cx="1463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</a:t>
            </a:r>
            <a:endParaRPr lang="en-US" sz="1400" dirty="0"/>
          </a:p>
        </p:txBody>
      </p:sp>
      <p:sp>
        <p:nvSpPr>
          <p:cNvPr id="215" name="freeze_sub"/>
          <p:cNvSpPr/>
          <p:nvPr/>
        </p:nvSpPr>
        <p:spPr>
          <a:xfrm>
            <a:off x="4297680" y="3334893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预注册设计与阈值</a:t>
            </a:r>
            <a:endParaRPr lang="en-US" sz="1150" dirty="0"/>
          </a:p>
        </p:txBody>
      </p:sp>
      <p:sp>
        <p:nvSpPr>
          <p:cNvPr id="216" name="lock_shackle"/>
          <p:cNvSpPr/>
          <p:nvPr/>
        </p:nvSpPr>
        <p:spPr>
          <a:xfrm>
            <a:off x="5395214" y="2987675"/>
            <a:ext cx="146304" cy="182880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22225">
            <a:solidFill>
              <a:srgbClr val="9B4D32"/>
            </a:solidFill>
            <a:prstDash val="solid"/>
          </a:ln>
        </p:spPr>
      </p:sp>
      <p:sp>
        <p:nvSpPr>
          <p:cNvPr id="217" name="lock_body"/>
          <p:cNvSpPr/>
          <p:nvPr/>
        </p:nvSpPr>
        <p:spPr>
          <a:xfrm>
            <a:off x="5340350" y="3097403"/>
            <a:ext cx="256032" cy="182880"/>
          </a:xfrm>
          <a:prstGeom prst="rect">
            <a:avLst/>
          </a:prstGeom>
          <a:solidFill>
            <a:srgbClr val="9B4D32"/>
          </a:solidFill>
          <a:ln w="12700">
            <a:solidFill>
              <a:srgbClr val="9B4D32"/>
            </a:solidFill>
            <a:prstDash val="solid"/>
          </a:ln>
        </p:spPr>
      </p:sp>
      <p:sp>
        <p:nvSpPr>
          <p:cNvPr id="218" name="freeze_to_gate"/>
          <p:cNvSpPr/>
          <p:nvPr/>
        </p:nvSpPr>
        <p:spPr>
          <a:xfrm>
            <a:off x="5760720" y="3316605"/>
            <a:ext cx="41148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9" name="gate_title"/>
          <p:cNvSpPr/>
          <p:nvPr/>
        </p:nvSpPr>
        <p:spPr>
          <a:xfrm>
            <a:off x="5852160" y="2155317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一次性确认</a:t>
            </a:r>
            <a:endParaRPr lang="en-US" sz="1400" dirty="0"/>
          </a:p>
        </p:txBody>
      </p:sp>
      <p:sp>
        <p:nvSpPr>
          <p:cNvPr id="220" name="tag_b"/>
          <p:cNvSpPr/>
          <p:nvPr/>
        </p:nvSpPr>
        <p:spPr>
          <a:xfrm>
            <a:off x="7726680" y="2562225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150" dirty="0"/>
          </a:p>
        </p:txBody>
      </p:sp>
      <p:sp>
        <p:nvSpPr>
          <p:cNvPr id="221" name="gate"/>
          <p:cNvSpPr/>
          <p:nvPr/>
        </p:nvSpPr>
        <p:spPr>
          <a:xfrm>
            <a:off x="6172200" y="2539365"/>
            <a:ext cx="1554480" cy="1554480"/>
          </a:xfrm>
          <a:prstGeom prst="ellipse">
            <a:avLst/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22" name="gate_q1"/>
          <p:cNvSpPr/>
          <p:nvPr/>
        </p:nvSpPr>
        <p:spPr>
          <a:xfrm>
            <a:off x="6419088" y="2905125"/>
            <a:ext cx="1060704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3" name="gate_q1_t"/>
          <p:cNvSpPr/>
          <p:nvPr/>
        </p:nvSpPr>
        <p:spPr>
          <a:xfrm>
            <a:off x="6419088" y="2905125"/>
            <a:ext cx="106070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确认数据</a:t>
            </a:r>
            <a:endParaRPr lang="en-US" sz="1150" dirty="0"/>
          </a:p>
        </p:txBody>
      </p:sp>
      <p:sp>
        <p:nvSpPr>
          <p:cNvPr id="224" name="gate_q2"/>
          <p:cNvSpPr/>
          <p:nvPr/>
        </p:nvSpPr>
        <p:spPr>
          <a:xfrm>
            <a:off x="6419088" y="3435477"/>
            <a:ext cx="1060704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5" name="gate_q2_t"/>
          <p:cNvSpPr/>
          <p:nvPr/>
        </p:nvSpPr>
        <p:spPr>
          <a:xfrm>
            <a:off x="6419088" y="3435477"/>
            <a:ext cx="106070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只打开一次</a:t>
            </a:r>
            <a:endParaRPr lang="en-US" sz="1150" dirty="0"/>
          </a:p>
        </p:txBody>
      </p:sp>
      <p:sp>
        <p:nvSpPr>
          <p:cNvPr id="226" name="sealed"/>
          <p:cNvSpPr/>
          <p:nvPr/>
        </p:nvSpPr>
        <p:spPr>
          <a:xfrm>
            <a:off x="6035040" y="4413885"/>
            <a:ext cx="1828800" cy="502920"/>
          </a:xfrm>
          <a:prstGeom prst="foldedCorner">
            <a:avLst/>
          </a:prstGeom>
          <a:solidFill>
            <a:srgbClr val="FAF0EB"/>
          </a:solidFill>
          <a:ln w="12700">
            <a:solidFill>
              <a:srgbClr val="9B4D32"/>
            </a:solidFill>
            <a:prstDash val="solid"/>
          </a:ln>
        </p:spPr>
      </p:sp>
      <p:sp>
        <p:nvSpPr>
          <p:cNvPr id="227" name="sealed_label"/>
          <p:cNvSpPr/>
          <p:nvPr/>
        </p:nvSpPr>
        <p:spPr>
          <a:xfrm>
            <a:off x="6035040" y="4413885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确认数据 · 封存</a:t>
            </a:r>
            <a:endParaRPr lang="en-US" sz="1400" dirty="0"/>
          </a:p>
        </p:txBody>
      </p:sp>
      <p:sp>
        <p:nvSpPr>
          <p:cNvPr id="228" name="sealed_to_gate"/>
          <p:cNvSpPr/>
          <p:nvPr/>
        </p:nvSpPr>
        <p:spPr>
          <a:xfrm>
            <a:off x="6949440" y="4093845"/>
            <a:ext cx="0" cy="320040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  <a:headEnd type="triangle"/>
          </a:ln>
        </p:spPr>
      </p:sp>
      <p:sp>
        <p:nvSpPr>
          <p:cNvPr id="229" name="gate_to_eval"/>
          <p:cNvSpPr/>
          <p:nvPr/>
        </p:nvSpPr>
        <p:spPr>
          <a:xfrm>
            <a:off x="7726680" y="3316605"/>
            <a:ext cx="36576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30" name="eval"/>
          <p:cNvSpPr/>
          <p:nvPr/>
        </p:nvSpPr>
        <p:spPr>
          <a:xfrm>
            <a:off x="8092440" y="2859405"/>
            <a:ext cx="1600200" cy="91440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31" name="eval_label"/>
          <p:cNvSpPr/>
          <p:nvPr/>
        </p:nvSpPr>
        <p:spPr>
          <a:xfrm>
            <a:off x="8092440" y="2987421"/>
            <a:ext cx="1600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独立评估</a:t>
            </a:r>
            <a:endParaRPr lang="en-US" sz="1400" dirty="0"/>
          </a:p>
        </p:txBody>
      </p:sp>
      <p:sp>
        <p:nvSpPr>
          <p:cNvPr id="232" name="eval_sub"/>
          <p:cNvSpPr/>
          <p:nvPr/>
        </p:nvSpPr>
        <p:spPr>
          <a:xfrm>
            <a:off x="8092440" y="3334893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评分代码哈希</a:t>
            </a:r>
            <a:endParaRPr lang="en-US" sz="1150" dirty="0"/>
          </a:p>
        </p:txBody>
      </p:sp>
      <p:sp>
        <p:nvSpPr>
          <p:cNvPr id="233" name="tag_c"/>
          <p:cNvSpPr/>
          <p:nvPr/>
        </p:nvSpPr>
        <p:spPr>
          <a:xfrm>
            <a:off x="9710928" y="2603373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150" dirty="0"/>
          </a:p>
        </p:txBody>
      </p:sp>
      <p:sp>
        <p:nvSpPr>
          <p:cNvPr id="234" name="eval_to_claim"/>
          <p:cNvSpPr/>
          <p:nvPr/>
        </p:nvSpPr>
        <p:spPr>
          <a:xfrm>
            <a:off x="9692640" y="3316605"/>
            <a:ext cx="36576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35" name="claim"/>
          <p:cNvSpPr/>
          <p:nvPr/>
        </p:nvSpPr>
        <p:spPr>
          <a:xfrm>
            <a:off x="10058400" y="2767965"/>
            <a:ext cx="1673352" cy="1097280"/>
          </a:xfrm>
          <a:prstGeom prst="flowChartDocumen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36" name="claim_label"/>
          <p:cNvSpPr/>
          <p:nvPr/>
        </p:nvSpPr>
        <p:spPr>
          <a:xfrm>
            <a:off x="10058400" y="2987421"/>
            <a:ext cx="16733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声明</a:t>
            </a:r>
            <a:endParaRPr lang="en-US" sz="1400" dirty="0"/>
          </a:p>
        </p:txBody>
      </p:sp>
      <p:sp>
        <p:nvSpPr>
          <p:cNvPr id="237" name="claim_sub"/>
          <p:cNvSpPr/>
          <p:nvPr/>
        </p:nvSpPr>
        <p:spPr>
          <a:xfrm>
            <a:off x="10058400" y="3334893"/>
            <a:ext cx="1673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绑定评分回执</a:t>
            </a:r>
            <a:endParaRPr lang="en-US" sz="1150" dirty="0"/>
          </a:p>
        </p:txBody>
      </p:sp>
      <p:sp>
        <p:nvSpPr>
          <p:cNvPr id="238" name="eval_to_judge"/>
          <p:cNvSpPr/>
          <p:nvPr/>
        </p:nvSpPr>
        <p:spPr>
          <a:xfrm>
            <a:off x="8892540" y="3773805"/>
            <a:ext cx="0" cy="320040"/>
          </a:xfrm>
          <a:prstGeom prst="line">
            <a:avLst/>
          </a:prstGeom>
          <a:noFill/>
          <a:ln w="19050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39" name="j_sup"/>
          <p:cNvSpPr/>
          <p:nvPr/>
        </p:nvSpPr>
        <p:spPr>
          <a:xfrm>
            <a:off x="8092440" y="4093845"/>
            <a:ext cx="77724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40" name="j_sup_t"/>
          <p:cNvSpPr/>
          <p:nvPr/>
        </p:nvSpPr>
        <p:spPr>
          <a:xfrm>
            <a:off x="8092440" y="4093845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</a:t>
            </a:r>
            <a:endParaRPr lang="en-US" sz="1150" dirty="0"/>
          </a:p>
        </p:txBody>
      </p:sp>
      <p:sp>
        <p:nvSpPr>
          <p:cNvPr id="241" name="j_ref"/>
          <p:cNvSpPr/>
          <p:nvPr/>
        </p:nvSpPr>
        <p:spPr>
          <a:xfrm>
            <a:off x="8961120" y="4093845"/>
            <a:ext cx="77724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42" name="j_ref_t"/>
          <p:cNvSpPr/>
          <p:nvPr/>
        </p:nvSpPr>
        <p:spPr>
          <a:xfrm>
            <a:off x="8961120" y="4093845"/>
            <a:ext cx="777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反驳</a:t>
            </a:r>
            <a:endParaRPr lang="en-US" sz="1150" dirty="0"/>
          </a:p>
        </p:txBody>
      </p:sp>
      <p:sp>
        <p:nvSpPr>
          <p:cNvPr id="243" name="j_inc"/>
          <p:cNvSpPr/>
          <p:nvPr/>
        </p:nvSpPr>
        <p:spPr>
          <a:xfrm>
            <a:off x="9829800" y="4093845"/>
            <a:ext cx="109728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44" name="j_inc_t"/>
          <p:cNvSpPr/>
          <p:nvPr/>
        </p:nvSpPr>
        <p:spPr>
          <a:xfrm>
            <a:off x="9829800" y="4093845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证据不足</a:t>
            </a:r>
            <a:endParaRPr lang="en-US" sz="1150" dirty="0"/>
          </a:p>
        </p:txBody>
      </p:sp>
      <p:sp>
        <p:nvSpPr>
          <p:cNvPr id="245" name="judge_note"/>
          <p:cNvSpPr/>
          <p:nvPr/>
        </p:nvSpPr>
        <p:spPr>
          <a:xfrm>
            <a:off x="8149590" y="4561713"/>
            <a:ext cx="36393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科学判断；描述性阈值状态另行记录</a:t>
            </a:r>
            <a:endParaRPr lang="en-US" sz="1150" dirty="0"/>
          </a:p>
        </p:txBody>
      </p:sp>
      <p:sp>
        <p:nvSpPr>
          <p:cNvPr id="246" name="detail_rule"/>
          <p:cNvSpPr/>
          <p:nvPr/>
        </p:nvSpPr>
        <p:spPr>
          <a:xfrm>
            <a:off x="502920" y="5193792"/>
            <a:ext cx="1122883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247" name="detail_a_head"/>
          <p:cNvSpPr/>
          <p:nvPr/>
        </p:nvSpPr>
        <p:spPr>
          <a:xfrm>
            <a:off x="502920" y="5343144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搜索（开发数据）</a:t>
            </a:r>
            <a:endParaRPr lang="en-US" sz="1200" dirty="0"/>
          </a:p>
        </p:txBody>
      </p:sp>
      <p:sp>
        <p:nvSpPr>
          <p:cNvPr id="248" name="detail_a_body"/>
          <p:cNvSpPr/>
          <p:nvPr/>
        </p:nvSpPr>
        <p:spPr>
          <a:xfrm>
            <a:off x="502920" y="5701665"/>
            <a:ext cx="356006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智能体提议 → 绑定源码与输入快照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隔离执行，信任等级如实上报</a:t>
            </a:r>
            <a:endParaRPr lang="en-US" sz="1100" dirty="0"/>
          </a:p>
        </p:txBody>
      </p:sp>
      <p:sp>
        <p:nvSpPr>
          <p:cNvPr id="249" name="detail_b_head"/>
          <p:cNvSpPr/>
          <p:nvPr/>
        </p:nvSpPr>
        <p:spPr>
          <a:xfrm>
            <a:off x="4337304" y="5343144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冻结与确认</a:t>
            </a:r>
            <a:endParaRPr lang="en-US" sz="1200" dirty="0"/>
          </a:p>
        </p:txBody>
      </p:sp>
      <p:sp>
        <p:nvSpPr>
          <p:cNvPr id="250" name="detail_b_body"/>
          <p:cNvSpPr/>
          <p:nvPr/>
        </p:nvSpPr>
        <p:spPr>
          <a:xfrm>
            <a:off x="4337304" y="5701665"/>
            <a:ext cx="356006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冻结后设计与阈值不可更改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确认数据签名封存，只评分一次</a:t>
            </a:r>
            <a:endParaRPr lang="en-US" sz="1100" dirty="0"/>
          </a:p>
        </p:txBody>
      </p:sp>
      <p:sp>
        <p:nvSpPr>
          <p:cNvPr id="251" name="detail_c_head"/>
          <p:cNvSpPr/>
          <p:nvPr/>
        </p:nvSpPr>
        <p:spPr>
          <a:xfrm>
            <a:off x="8171688" y="5343144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 独立评估与判断</a:t>
            </a:r>
            <a:endParaRPr lang="en-US" sz="1200" dirty="0"/>
          </a:p>
        </p:txBody>
      </p:sp>
      <p:sp>
        <p:nvSpPr>
          <p:cNvPr id="252" name="detail_c_body"/>
          <p:cNvSpPr/>
          <p:nvPr/>
        </p:nvSpPr>
        <p:spPr>
          <a:xfrm>
            <a:off x="8171688" y="5701665"/>
            <a:ext cx="356006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效应区间对照预注册阈值给出判断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执行未完成记为未评估，不计为反证</a:t>
            </a:r>
            <a:endParaRPr lang="en-US" sz="1100" dirty="0"/>
          </a:p>
        </p:txBody>
      </p:sp>
      <p:sp>
        <p:nvSpPr>
          <p:cNvPr id="253" name="no_return_0"/>
          <p:cNvSpPr/>
          <p:nvPr/>
        </p:nvSpPr>
        <p:spPr>
          <a:xfrm>
            <a:off x="6355080" y="3819525"/>
            <a:ext cx="0" cy="338328"/>
          </a:xfrm>
          <a:prstGeom prst="line">
            <a:avLst/>
          </a:prstGeom>
          <a:noFill/>
          <a:ln w="15875">
            <a:solidFill>
              <a:srgbClr val="9B4D32"/>
            </a:solidFill>
            <a:prstDash val="dash"/>
          </a:ln>
        </p:spPr>
      </p:sp>
      <p:sp>
        <p:nvSpPr>
          <p:cNvPr id="254" name="no_return_1"/>
          <p:cNvSpPr/>
          <p:nvPr/>
        </p:nvSpPr>
        <p:spPr>
          <a:xfrm>
            <a:off x="3017520" y="4157853"/>
            <a:ext cx="3337560" cy="0"/>
          </a:xfrm>
          <a:prstGeom prst="line">
            <a:avLst/>
          </a:prstGeom>
          <a:noFill/>
          <a:ln w="15875">
            <a:solidFill>
              <a:srgbClr val="9B4D32"/>
            </a:solidFill>
            <a:prstDash val="dash"/>
          </a:ln>
        </p:spPr>
      </p:sp>
      <p:sp>
        <p:nvSpPr>
          <p:cNvPr id="255" name="no_return_2"/>
          <p:cNvSpPr/>
          <p:nvPr/>
        </p:nvSpPr>
        <p:spPr>
          <a:xfrm>
            <a:off x="3017520" y="3773805"/>
            <a:ext cx="0" cy="384048"/>
          </a:xfrm>
          <a:prstGeom prst="line">
            <a:avLst/>
          </a:prstGeom>
          <a:noFill/>
          <a:ln w="15875">
            <a:solidFill>
              <a:srgbClr val="9B4D32"/>
            </a:solidFill>
            <a:prstDash val="dash"/>
            <a:headEnd type="triangle"/>
          </a:ln>
        </p:spPr>
      </p:sp>
      <p:sp>
        <p:nvSpPr>
          <p:cNvPr id="256" name="no_return_block"/>
          <p:cNvSpPr/>
          <p:nvPr/>
        </p:nvSpPr>
        <p:spPr>
          <a:xfrm>
            <a:off x="4507992" y="4002405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4D32"/>
            </a:solidFill>
            <a:prstDash val="solid"/>
          </a:ln>
        </p:spPr>
      </p:sp>
      <p:sp>
        <p:nvSpPr>
          <p:cNvPr id="257" name="no_return_block_t"/>
          <p:cNvSpPr/>
          <p:nvPr/>
        </p:nvSpPr>
        <p:spPr>
          <a:xfrm>
            <a:off x="4507992" y="4002405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×</a:t>
            </a:r>
            <a:endParaRPr lang="en-US" sz="1300" dirty="0"/>
          </a:p>
        </p:txBody>
      </p:sp>
      <p:sp>
        <p:nvSpPr>
          <p:cNvPr id="258" name="no_return_t"/>
          <p:cNvSpPr/>
          <p:nvPr/>
        </p:nvSpPr>
        <p:spPr>
          <a:xfrm>
            <a:off x="2194560" y="443026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确认后不回到搜索：确认数据不复用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00584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· 研究内容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2" name="Text 9"/>
          <p:cNvSpPr/>
          <p:nvPr/>
        </p:nvSpPr>
        <p:spPr>
          <a:xfrm>
            <a:off x="713232" y="914400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任务四：系统实现与验证（拟）— 交付边界与写入权限</a:t>
            </a:r>
            <a:endParaRPr lang="en-US" sz="1900" dirty="0"/>
          </a:p>
        </p:txBody>
      </p:sp>
      <p:sp>
        <p:nvSpPr>
          <p:cNvPr id="200" name="wb"/>
          <p:cNvSpPr/>
          <p:nvPr/>
        </p:nvSpPr>
        <p:spPr>
          <a:xfrm>
            <a:off x="502920" y="214884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01" name="wb_label"/>
          <p:cNvSpPr/>
          <p:nvPr/>
        </p:nvSpPr>
        <p:spPr>
          <a:xfrm>
            <a:off x="502920" y="2276856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 / CLI</a:t>
            </a:r>
            <a:endParaRPr lang="en-US" sz="1400" dirty="0"/>
          </a:p>
        </p:txBody>
      </p:sp>
      <p:sp>
        <p:nvSpPr>
          <p:cNvPr id="202" name="wb_sub"/>
          <p:cNvSpPr/>
          <p:nvPr/>
        </p:nvSpPr>
        <p:spPr>
          <a:xfrm>
            <a:off x="502920" y="2624328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React+TS · 命令入口</a:t>
            </a:r>
            <a:endParaRPr lang="en-US" sz="1150" dirty="0"/>
          </a:p>
        </p:txBody>
      </p:sp>
      <p:sp>
        <p:nvSpPr>
          <p:cNvPr id="203" name="llm"/>
          <p:cNvSpPr/>
          <p:nvPr/>
        </p:nvSpPr>
        <p:spPr>
          <a:xfrm>
            <a:off x="502920" y="324612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04" name="llm_label"/>
          <p:cNvSpPr/>
          <p:nvPr/>
        </p:nvSpPr>
        <p:spPr>
          <a:xfrm>
            <a:off x="502920" y="3374136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提议通道</a:t>
            </a:r>
            <a:endParaRPr lang="en-US" sz="1400" dirty="0"/>
          </a:p>
        </p:txBody>
      </p:sp>
      <p:sp>
        <p:nvSpPr>
          <p:cNvPr id="205" name="llm_sub"/>
          <p:cNvSpPr/>
          <p:nvPr/>
        </p:nvSpPr>
        <p:spPr>
          <a:xfrm>
            <a:off x="502920" y="3721608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 JSON 提议</a:t>
            </a:r>
            <a:endParaRPr lang="en-US" sz="1150" dirty="0"/>
          </a:p>
        </p:txBody>
      </p:sp>
      <p:sp>
        <p:nvSpPr>
          <p:cNvPr id="206" name="tag_a"/>
          <p:cNvSpPr/>
          <p:nvPr/>
        </p:nvSpPr>
        <p:spPr>
          <a:xfrm>
            <a:off x="2487168" y="196596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207" name="wb_to_k"/>
          <p:cNvSpPr/>
          <p:nvPr/>
        </p:nvSpPr>
        <p:spPr>
          <a:xfrm>
            <a:off x="2468880" y="2606040"/>
            <a:ext cx="50292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08" name="wb_to_k_t"/>
          <p:cNvSpPr/>
          <p:nvPr/>
        </p:nvSpPr>
        <p:spPr>
          <a:xfrm>
            <a:off x="2468880" y="230428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</a:t>
            </a:r>
            <a:endParaRPr lang="en-US" sz="1150" dirty="0"/>
          </a:p>
        </p:txBody>
      </p:sp>
      <p:sp>
        <p:nvSpPr>
          <p:cNvPr id="209" name="llm_to_k"/>
          <p:cNvSpPr/>
          <p:nvPr/>
        </p:nvSpPr>
        <p:spPr>
          <a:xfrm>
            <a:off x="2468880" y="3703320"/>
            <a:ext cx="50292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0" name="llm_to_k_t"/>
          <p:cNvSpPr/>
          <p:nvPr/>
        </p:nvSpPr>
        <p:spPr>
          <a:xfrm>
            <a:off x="2468880" y="34015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提议</a:t>
            </a:r>
            <a:endParaRPr lang="en-US" sz="1150" dirty="0"/>
          </a:p>
        </p:txBody>
      </p:sp>
      <p:sp>
        <p:nvSpPr>
          <p:cNvPr id="211" name="kernel"/>
          <p:cNvSpPr/>
          <p:nvPr/>
        </p:nvSpPr>
        <p:spPr>
          <a:xfrm>
            <a:off x="2971800" y="201168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12" name="kernel_title"/>
          <p:cNvSpPr/>
          <p:nvPr/>
        </p:nvSpPr>
        <p:spPr>
          <a:xfrm>
            <a:off x="2971800" y="210312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科研内核</a:t>
            </a:r>
            <a:endParaRPr lang="en-US" sz="1500" dirty="0"/>
          </a:p>
        </p:txBody>
      </p:sp>
      <p:sp>
        <p:nvSpPr>
          <p:cNvPr id="213" name="kernel_sub"/>
          <p:cNvSpPr/>
          <p:nvPr/>
        </p:nvSpPr>
        <p:spPr>
          <a:xfrm>
            <a:off x="2971800" y="246888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裁决 · 编排 · 签发写入凭据</a:t>
            </a:r>
            <a:endParaRPr lang="en-US" sz="1150" dirty="0"/>
          </a:p>
        </p:txBody>
      </p:sp>
      <p:sp>
        <p:nvSpPr>
          <p:cNvPr id="214" name="kernel_s1"/>
          <p:cNvSpPr/>
          <p:nvPr/>
        </p:nvSpPr>
        <p:spPr>
          <a:xfrm>
            <a:off x="3200400" y="2880360"/>
            <a:ext cx="201168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5" name="kernel_s1_t"/>
          <p:cNvSpPr/>
          <p:nvPr/>
        </p:nvSpPr>
        <p:spPr>
          <a:xfrm>
            <a:off x="3200400" y="2880360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合法转移？· 预算？</a:t>
            </a:r>
            <a:endParaRPr lang="en-US" sz="1150" dirty="0"/>
          </a:p>
        </p:txBody>
      </p:sp>
      <p:sp>
        <p:nvSpPr>
          <p:cNvPr id="216" name="kernel_s2"/>
          <p:cNvSpPr/>
          <p:nvPr/>
        </p:nvSpPr>
        <p:spPr>
          <a:xfrm>
            <a:off x="3200400" y="3291840"/>
            <a:ext cx="201168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7" name="kernel_s2_t"/>
          <p:cNvSpPr/>
          <p:nvPr/>
        </p:nvSpPr>
        <p:spPr>
          <a:xfrm>
            <a:off x="3200400" y="3291840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每类对象唯一写入方</a:t>
            </a:r>
            <a:endParaRPr lang="en-US" sz="1150" dirty="0"/>
          </a:p>
        </p:txBody>
      </p:sp>
      <p:sp>
        <p:nvSpPr>
          <p:cNvPr id="218" name="kernel_note"/>
          <p:cNvSpPr/>
          <p:nvPr/>
        </p:nvSpPr>
        <p:spPr>
          <a:xfrm>
            <a:off x="2971800" y="3794760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拟设计 · 不自写全部事实</a:t>
            </a:r>
            <a:endParaRPr lang="en-US" sz="1150" dirty="0"/>
          </a:p>
        </p:txBody>
      </p:sp>
      <p:sp>
        <p:nvSpPr>
          <p:cNvPr id="219" name="tag_b"/>
          <p:cNvSpPr/>
          <p:nvPr/>
        </p:nvSpPr>
        <p:spPr>
          <a:xfrm>
            <a:off x="8622792" y="190195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150" dirty="0"/>
          </a:p>
        </p:txBody>
      </p:sp>
      <p:sp>
        <p:nvSpPr>
          <p:cNvPr id="220" name="k_to_store"/>
          <p:cNvSpPr/>
          <p:nvPr/>
        </p:nvSpPr>
        <p:spPr>
          <a:xfrm>
            <a:off x="5440680" y="2523744"/>
            <a:ext cx="1737359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21" name="store"/>
          <p:cNvSpPr/>
          <p:nvPr/>
        </p:nvSpPr>
        <p:spPr>
          <a:xfrm>
            <a:off x="7178040" y="2148840"/>
            <a:ext cx="1554480" cy="749808"/>
          </a:xfrm>
          <a:prstGeom prst="can">
            <a:avLst/>
          </a:prstGeom>
          <a:solidFill>
            <a:srgbClr val="F2F5F6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22" name="store_label"/>
          <p:cNvSpPr/>
          <p:nvPr/>
        </p:nvSpPr>
        <p:spPr>
          <a:xfrm>
            <a:off x="7178040" y="2240280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研究存储</a:t>
            </a:r>
            <a:endParaRPr lang="en-US" sz="1400" dirty="0"/>
          </a:p>
        </p:txBody>
      </p:sp>
      <p:sp>
        <p:nvSpPr>
          <p:cNvPr id="223" name="store_sub"/>
          <p:cNvSpPr/>
          <p:nvPr/>
        </p:nvSpPr>
        <p:spPr>
          <a:xfrm>
            <a:off x="7178040" y="2569464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research_store · 假设/设计</a:t>
            </a:r>
            <a:endParaRPr lang="en-US" sz="1150" dirty="0"/>
          </a:p>
        </p:txBody>
      </p:sp>
      <p:sp>
        <p:nvSpPr>
          <p:cNvPr id="225" name="k_to_tools"/>
          <p:cNvSpPr/>
          <p:nvPr/>
        </p:nvSpPr>
        <p:spPr>
          <a:xfrm>
            <a:off x="5440680" y="3529584"/>
            <a:ext cx="1737359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26" name="tools"/>
          <p:cNvSpPr/>
          <p:nvPr/>
        </p:nvSpPr>
        <p:spPr>
          <a:xfrm>
            <a:off x="7178040" y="3154680"/>
            <a:ext cx="1554480" cy="749808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27" name="tools_label"/>
          <p:cNvSpPr/>
          <p:nvPr/>
        </p:nvSpPr>
        <p:spPr>
          <a:xfrm>
            <a:off x="7178040" y="3246120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受控工具 / 沙箱</a:t>
            </a:r>
            <a:endParaRPr lang="en-US" sz="1400" dirty="0"/>
          </a:p>
        </p:txBody>
      </p:sp>
      <p:sp>
        <p:nvSpPr>
          <p:cNvPr id="228" name="tools_sub"/>
          <p:cNvSpPr/>
          <p:nvPr/>
        </p:nvSpPr>
        <p:spPr>
          <a:xfrm>
            <a:off x="7178040" y="3575304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授权后 OS 沙箱执行</a:t>
            </a:r>
            <a:endParaRPr lang="en-US" sz="1150" dirty="0"/>
          </a:p>
        </p:txBody>
      </p:sp>
      <p:sp>
        <p:nvSpPr>
          <p:cNvPr id="229" name="k_to_eval"/>
          <p:cNvSpPr/>
          <p:nvPr/>
        </p:nvSpPr>
        <p:spPr>
          <a:xfrm>
            <a:off x="5440680" y="4535424"/>
            <a:ext cx="1737359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30" name="eval"/>
          <p:cNvSpPr/>
          <p:nvPr/>
        </p:nvSpPr>
        <p:spPr>
          <a:xfrm>
            <a:off x="7178040" y="4160520"/>
            <a:ext cx="1554480" cy="749808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31" name="eval_label"/>
          <p:cNvSpPr/>
          <p:nvPr/>
        </p:nvSpPr>
        <p:spPr>
          <a:xfrm>
            <a:off x="7178040" y="4251959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独立评估</a:t>
            </a:r>
            <a:endParaRPr lang="en-US" sz="1400" dirty="0"/>
          </a:p>
        </p:txBody>
      </p:sp>
      <p:sp>
        <p:nvSpPr>
          <p:cNvPr id="232" name="eval_sub"/>
          <p:cNvSpPr/>
          <p:nvPr/>
        </p:nvSpPr>
        <p:spPr>
          <a:xfrm>
            <a:off x="7178040" y="4581144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evaluation_service</a:t>
            </a:r>
            <a:endParaRPr lang="en-US" sz="1150" dirty="0"/>
          </a:p>
        </p:txBody>
      </p:sp>
      <p:sp>
        <p:nvSpPr>
          <p:cNvPr id="234" name="path_1"/>
          <p:cNvSpPr/>
          <p:nvPr/>
        </p:nvSpPr>
        <p:spPr>
          <a:xfrm>
            <a:off x="5870448" y="2249424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对象写入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endParaRPr lang="en-US" sz="1000" dirty="0"/>
          </a:p>
        </p:txBody>
      </p:sp>
      <p:sp>
        <p:nvSpPr>
          <p:cNvPr id="235" name="path_2"/>
          <p:cNvSpPr/>
          <p:nvPr/>
        </p:nvSpPr>
        <p:spPr>
          <a:xfrm>
            <a:off x="5870448" y="3255264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授权执行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endParaRPr lang="en-US" sz="1000" dirty="0"/>
          </a:p>
        </p:txBody>
      </p:sp>
      <p:sp>
        <p:nvSpPr>
          <p:cNvPr id="236" name="path_3"/>
          <p:cNvSpPr/>
          <p:nvPr/>
        </p:nvSpPr>
        <p:spPr>
          <a:xfrm>
            <a:off x="5870448" y="4261104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触发评估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endParaRPr lang="en-US" sz="1000" dirty="0"/>
          </a:p>
        </p:txBody>
      </p:sp>
      <p:sp>
        <p:nvSpPr>
          <p:cNvPr id="237" name="ctrl"/>
          <p:cNvSpPr/>
          <p:nvPr/>
        </p:nvSpPr>
        <p:spPr>
          <a:xfrm>
            <a:off x="8869680" y="2148840"/>
            <a:ext cx="1143000" cy="749808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38" name="ctrl_label"/>
          <p:cNvSpPr/>
          <p:nvPr/>
        </p:nvSpPr>
        <p:spPr>
          <a:xfrm>
            <a:off x="8869680" y="2212848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编排控制器</a:t>
            </a:r>
            <a:endParaRPr lang="en-US" sz="1400" dirty="0"/>
          </a:p>
        </p:txBody>
      </p:sp>
      <p:sp>
        <p:nvSpPr>
          <p:cNvPr id="239" name="ctrl_sub"/>
          <p:cNvSpPr/>
          <p:nvPr/>
        </p:nvSpPr>
        <p:spPr>
          <a:xfrm>
            <a:off x="8869680" y="2487168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zh-CN" sz="1100">
                <a:solidFill>
                  <a:srgbClr val="52636A"/>
                </a:solidFill>
                <a:latin typeface="Noto Sans CJK SC"/>
                <a:ea typeface="Noto Sans CJK SC"/>
              </a:rPr>
              <a:t>run · claim</a:t>
            </a:r>
            <a:endParaRPr lang="zh-CN" sz="1100">
              <a:solidFill>
                <a:srgbClr val="52636A"/>
              </a:solidFill>
              <a:latin typeface="Noto Sans CJK SC"/>
              <a:ea typeface="Noto Sans CJK SC"/>
            </a:endParaRPr>
          </a:p>
          <a:p>
            <a:pPr algn="ctr"/>
            <a:r>
              <a:rPr lang="zh-CN" sz="1100">
                <a:solidFill>
                  <a:srgbClr val="52636A"/>
                </a:solidFill>
                <a:latin typeface="Noto Sans CJK SC"/>
                <a:ea typeface="Noto Sans CJK SC"/>
              </a:rPr>
              <a:t>research_controller</a:t>
            </a:r>
            <a:endParaRPr lang="zh-CN" sz="1100">
              <a:solidFill>
                <a:srgbClr val="52636A"/>
              </a:solidFill>
              <a:latin typeface="Noto Sans CJK SC"/>
              <a:ea typeface="Noto Sans CJK SC"/>
            </a:endParaRPr>
          </a:p>
        </p:txBody>
      </p:sp>
      <p:sp>
        <p:nvSpPr>
          <p:cNvPr id="240" name="k_to_ctrl_0"/>
          <p:cNvSpPr/>
          <p:nvPr/>
        </p:nvSpPr>
        <p:spPr>
          <a:xfrm>
            <a:off x="5440680" y="1719072"/>
            <a:ext cx="0" cy="292608"/>
          </a:xfrm>
          <a:prstGeom prst="line">
            <a:avLst/>
          </a:prstGeom>
          <a:noFill/>
          <a:ln w="15875">
            <a:solidFill>
              <a:srgbClr val="26363D"/>
            </a:solidFill>
            <a:prstDash val="dash"/>
          </a:ln>
        </p:spPr>
      </p:sp>
      <p:sp>
        <p:nvSpPr>
          <p:cNvPr id="241" name="k_to_ctrl_1"/>
          <p:cNvSpPr/>
          <p:nvPr/>
        </p:nvSpPr>
        <p:spPr>
          <a:xfrm>
            <a:off x="5440680" y="1719072"/>
            <a:ext cx="4000499" cy="0"/>
          </a:xfrm>
          <a:prstGeom prst="line">
            <a:avLst/>
          </a:prstGeom>
          <a:noFill/>
          <a:ln w="15875">
            <a:solidFill>
              <a:srgbClr val="26363D"/>
            </a:solidFill>
            <a:prstDash val="dash"/>
          </a:ln>
        </p:spPr>
      </p:sp>
      <p:sp>
        <p:nvSpPr>
          <p:cNvPr id="242" name="k_to_ctrl_2"/>
          <p:cNvSpPr/>
          <p:nvPr/>
        </p:nvSpPr>
        <p:spPr>
          <a:xfrm>
            <a:off x="9441180" y="1719072"/>
            <a:ext cx="0" cy="429768"/>
          </a:xfrm>
          <a:prstGeom prst="line">
            <a:avLst/>
          </a:prstGeom>
          <a:noFill/>
          <a:ln w="15875">
            <a:solidFill>
              <a:srgbClr val="26363D"/>
            </a:solidFill>
            <a:prstDash val="dash"/>
            <a:tailEnd type="triangle"/>
          </a:ln>
        </p:spPr>
      </p:sp>
      <p:sp>
        <p:nvSpPr>
          <p:cNvPr id="243" name="ctrl_path"/>
          <p:cNvSpPr/>
          <p:nvPr/>
        </p:nvSpPr>
        <p:spPr>
          <a:xfrm>
            <a:off x="5577840" y="1499616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签发 run/claim 写入</a:t>
            </a:r>
            <a:endParaRPr lang="en-US" sz="1050" dirty="0"/>
          </a:p>
        </p:txBody>
      </p:sp>
      <p:sp>
        <p:nvSpPr>
          <p:cNvPr id="244" name="bypass_0"/>
          <p:cNvSpPr/>
          <p:nvPr/>
        </p:nvSpPr>
        <p:spPr>
          <a:xfrm>
            <a:off x="1481328" y="4160520"/>
            <a:ext cx="0" cy="548640"/>
          </a:xfrm>
          <a:prstGeom prst="line">
            <a:avLst/>
          </a:prstGeom>
          <a:noFill/>
          <a:ln w="15875">
            <a:solidFill>
              <a:srgbClr val="9B4D32"/>
            </a:solidFill>
            <a:prstDash val="dash"/>
          </a:ln>
        </p:spPr>
      </p:sp>
      <p:sp>
        <p:nvSpPr>
          <p:cNvPr id="245" name="bypass_1"/>
          <p:cNvSpPr/>
          <p:nvPr/>
        </p:nvSpPr>
        <p:spPr>
          <a:xfrm>
            <a:off x="1481328" y="4709160"/>
            <a:ext cx="3456432" cy="0"/>
          </a:xfrm>
          <a:prstGeom prst="line">
            <a:avLst/>
          </a:prstGeom>
          <a:noFill/>
          <a:ln w="15875">
            <a:solidFill>
              <a:srgbClr val="9B4D32"/>
            </a:solidFill>
            <a:prstDash val="dash"/>
          </a:ln>
        </p:spPr>
      </p:sp>
      <p:sp>
        <p:nvSpPr>
          <p:cNvPr id="246" name="bypass_2"/>
          <p:cNvSpPr/>
          <p:nvPr/>
        </p:nvSpPr>
        <p:spPr>
          <a:xfrm>
            <a:off x="4937760" y="4297680"/>
            <a:ext cx="0" cy="411480"/>
          </a:xfrm>
          <a:prstGeom prst="line">
            <a:avLst/>
          </a:prstGeom>
          <a:noFill/>
          <a:ln w="15875">
            <a:solidFill>
              <a:srgbClr val="9B4D32"/>
            </a:solidFill>
            <a:prstDash val="dash"/>
            <a:headEnd type="triangle"/>
          </a:ln>
        </p:spPr>
      </p:sp>
      <p:sp>
        <p:nvSpPr>
          <p:cNvPr id="247" name="bypass_block"/>
          <p:cNvSpPr/>
          <p:nvPr/>
        </p:nvSpPr>
        <p:spPr>
          <a:xfrm>
            <a:off x="2587752" y="455371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B4D32"/>
            </a:solidFill>
            <a:prstDash val="solid"/>
          </a:ln>
        </p:spPr>
      </p:sp>
      <p:sp>
        <p:nvSpPr>
          <p:cNvPr id="248" name="bypass_block_t"/>
          <p:cNvSpPr/>
          <p:nvPr/>
        </p:nvSpPr>
        <p:spPr>
          <a:xfrm>
            <a:off x="2587752" y="455371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×</a:t>
            </a:r>
            <a:endParaRPr lang="en-US" sz="1300" dirty="0"/>
          </a:p>
        </p:txBody>
      </p:sp>
      <p:sp>
        <p:nvSpPr>
          <p:cNvPr id="249" name="bypass_t"/>
          <p:cNvSpPr/>
          <p:nvPr/>
        </p:nvSpPr>
        <p:spPr>
          <a:xfrm>
            <a:off x="3017520" y="473659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界面不直接写入科研事实</a:t>
            </a:r>
            <a:endParaRPr lang="en-US" sz="1150" dirty="0"/>
          </a:p>
        </p:txBody>
      </p:sp>
      <p:sp>
        <p:nvSpPr>
          <p:cNvPr id="250" name="ver_box"/>
          <p:cNvSpPr/>
          <p:nvPr/>
        </p:nvSpPr>
        <p:spPr>
          <a:xfrm>
            <a:off x="10149840" y="1965960"/>
            <a:ext cx="1600200" cy="324612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51" name="ver_title"/>
          <p:cNvSpPr/>
          <p:nvPr/>
        </p:nvSpPr>
        <p:spPr>
          <a:xfrm>
            <a:off x="10149840" y="2029968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验证挂点（拟）</a:t>
            </a:r>
            <a:endParaRPr lang="en-US" sz="1150" dirty="0"/>
          </a:p>
        </p:txBody>
      </p:sp>
      <p:sp>
        <p:nvSpPr>
          <p:cNvPr id="252" name="ver_eng_h"/>
          <p:cNvSpPr/>
          <p:nvPr/>
        </p:nvSpPr>
        <p:spPr>
          <a:xfrm>
            <a:off x="10241280" y="2377440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工程验证</a:t>
            </a:r>
            <a:endParaRPr lang="en-US" sz="1150" dirty="0"/>
          </a:p>
        </p:txBody>
      </p:sp>
      <p:sp>
        <p:nvSpPr>
          <p:cNvPr id="253" name="ver_eng_0"/>
          <p:cNvSpPr/>
          <p:nvPr/>
        </p:nvSpPr>
        <p:spPr>
          <a:xfrm>
            <a:off x="10287000" y="2697480"/>
            <a:ext cx="132588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4" name="ver_eng_0_t"/>
          <p:cNvSpPr/>
          <p:nvPr/>
        </p:nvSpPr>
        <p:spPr>
          <a:xfrm>
            <a:off x="10287000" y="269748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非法转移</a:t>
            </a:r>
            <a:endParaRPr lang="en-US" sz="1150" dirty="0"/>
          </a:p>
        </p:txBody>
      </p:sp>
      <p:sp>
        <p:nvSpPr>
          <p:cNvPr id="255" name="ver_eng_1"/>
          <p:cNvSpPr/>
          <p:nvPr/>
        </p:nvSpPr>
        <p:spPr>
          <a:xfrm>
            <a:off x="10287000" y="2990088"/>
            <a:ext cx="132588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6" name="ver_eng_1_t"/>
          <p:cNvSpPr/>
          <p:nvPr/>
        </p:nvSpPr>
        <p:spPr>
          <a:xfrm>
            <a:off x="10287000" y="2990088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幂等</a:t>
            </a:r>
            <a:endParaRPr lang="en-US" sz="1150" dirty="0"/>
          </a:p>
        </p:txBody>
      </p:sp>
      <p:sp>
        <p:nvSpPr>
          <p:cNvPr id="257" name="ver_eng_2"/>
          <p:cNvSpPr/>
          <p:nvPr/>
        </p:nvSpPr>
        <p:spPr>
          <a:xfrm>
            <a:off x="10287000" y="3282696"/>
            <a:ext cx="132588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8" name="ver_eng_2_t"/>
          <p:cNvSpPr/>
          <p:nvPr/>
        </p:nvSpPr>
        <p:spPr>
          <a:xfrm>
            <a:off x="10287000" y="3282696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崩溃恢复</a:t>
            </a:r>
            <a:endParaRPr lang="en-US" sz="1150" dirty="0"/>
          </a:p>
        </p:txBody>
      </p:sp>
      <p:sp>
        <p:nvSpPr>
          <p:cNvPr id="259" name="ver_eng_3"/>
          <p:cNvSpPr/>
          <p:nvPr/>
        </p:nvSpPr>
        <p:spPr>
          <a:xfrm>
            <a:off x="10287000" y="3575304"/>
            <a:ext cx="132588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0" name="ver_eng_3_t"/>
          <p:cNvSpPr/>
          <p:nvPr/>
        </p:nvSpPr>
        <p:spPr>
          <a:xfrm>
            <a:off x="10287000" y="3575304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篡改检出</a:t>
            </a:r>
            <a:endParaRPr lang="en-US" sz="1150" dirty="0"/>
          </a:p>
        </p:txBody>
      </p:sp>
      <p:sp>
        <p:nvSpPr>
          <p:cNvPr id="261" name="ver_sci_h"/>
          <p:cNvSpPr/>
          <p:nvPr/>
        </p:nvSpPr>
        <p:spPr>
          <a:xfrm>
            <a:off x="10241280" y="3931920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科研验证</a:t>
            </a:r>
            <a:endParaRPr lang="en-US" sz="1150" dirty="0"/>
          </a:p>
        </p:txBody>
      </p:sp>
      <p:sp>
        <p:nvSpPr>
          <p:cNvPr id="262" name="ver_sci_b"/>
          <p:cNvSpPr/>
          <p:nvPr/>
        </p:nvSpPr>
        <p:spPr>
          <a:xfrm>
            <a:off x="10241280" y="4206240"/>
            <a:ext cx="1417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数值 · 公开数据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机制比较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支持/反驳/不足</a:t>
            </a:r>
            <a:endParaRPr lang="en-US" sz="1100" dirty="0"/>
          </a:p>
        </p:txBody>
      </p:sp>
      <p:sp>
        <p:nvSpPr>
          <p:cNvPr id="263" name="tag_c"/>
          <p:cNvSpPr/>
          <p:nvPr/>
        </p:nvSpPr>
        <p:spPr>
          <a:xfrm>
            <a:off x="11475720" y="1783080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150" dirty="0"/>
          </a:p>
        </p:txBody>
      </p:sp>
      <p:sp>
        <p:nvSpPr>
          <p:cNvPr id="264" name="tie_eng"/>
          <p:cNvSpPr/>
          <p:nvPr/>
        </p:nvSpPr>
        <p:spPr>
          <a:xfrm flipV="1">
            <a:off x="8732519" y="3108960"/>
            <a:ext cx="1417320" cy="420623"/>
          </a:xfrm>
          <a:prstGeom prst="line">
            <a:avLst/>
          </a:prstGeom>
          <a:noFill/>
          <a:ln w="12700">
            <a:solidFill>
              <a:srgbClr val="52636A"/>
            </a:solidFill>
            <a:prstDash val="dash"/>
          </a:ln>
        </p:spPr>
      </p:sp>
      <p:sp>
        <p:nvSpPr>
          <p:cNvPr id="265" name="tie_sci"/>
          <p:cNvSpPr/>
          <p:nvPr/>
        </p:nvSpPr>
        <p:spPr>
          <a:xfrm flipV="1">
            <a:off x="8732519" y="4389120"/>
            <a:ext cx="1417320" cy="146304"/>
          </a:xfrm>
          <a:prstGeom prst="line">
            <a:avLst/>
          </a:prstGeom>
          <a:noFill/>
          <a:ln w="12700">
            <a:solidFill>
              <a:srgbClr val="1E4FA8"/>
            </a:solidFill>
            <a:prstDash val="dash"/>
          </a:ln>
        </p:spPr>
      </p:sp>
      <p:sp>
        <p:nvSpPr>
          <p:cNvPr id="266" name="detail_rule"/>
          <p:cNvSpPr/>
          <p:nvPr/>
        </p:nvSpPr>
        <p:spPr>
          <a:xfrm>
            <a:off x="502920" y="5074920"/>
            <a:ext cx="1122883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267" name="detail_a_head"/>
          <p:cNvSpPr/>
          <p:nvPr/>
        </p:nvSpPr>
        <p:spPr>
          <a:xfrm>
            <a:off x="502920" y="5148072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交付边界（拟）</a:t>
            </a:r>
            <a:endParaRPr lang="en-US" sz="1200" dirty="0"/>
          </a:p>
        </p:txBody>
      </p:sp>
      <p:sp>
        <p:nvSpPr>
          <p:cNvPr id="268" name="detail_a_body"/>
          <p:cNvSpPr/>
          <p:nvPr/>
        </p:nvSpPr>
        <p:spPr>
          <a:xfrm>
            <a:off x="502920" y="5458968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工作台与 LLM 只进入内核；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界面不直接写入科研事实</a:t>
            </a:r>
            <a:endParaRPr lang="en-US" sz="1100" dirty="0"/>
          </a:p>
        </p:txBody>
      </p:sp>
      <p:sp>
        <p:nvSpPr>
          <p:cNvPr id="269" name="detail_b_head"/>
          <p:cNvSpPr/>
          <p:nvPr/>
        </p:nvSpPr>
        <p:spPr>
          <a:xfrm>
            <a:off x="4337304" y="5148072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按对象的唯一写入方（拟）</a:t>
            </a:r>
            <a:endParaRPr lang="en-US" sz="1200" dirty="0"/>
          </a:p>
        </p:txBody>
      </p:sp>
      <p:sp>
        <p:nvSpPr>
          <p:cNvPr id="270" name="detail_b_body"/>
          <p:cNvSpPr/>
          <p:nvPr/>
        </p:nvSpPr>
        <p:spPr>
          <a:xfrm>
            <a:off x="4337304" y="5458968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研究存储 / 独立评估 / 编排控制器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各写一类对象；内核签发凭据并裁决</a:t>
            </a:r>
            <a:endParaRPr lang="en-US" sz="1100" dirty="0"/>
          </a:p>
        </p:txBody>
      </p:sp>
      <p:sp>
        <p:nvSpPr>
          <p:cNvPr id="271" name="detail_c_head"/>
          <p:cNvSpPr/>
          <p:nvPr/>
        </p:nvSpPr>
        <p:spPr>
          <a:xfrm>
            <a:off x="8171688" y="5148072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 验证与对照（拟）</a:t>
            </a:r>
            <a:endParaRPr lang="en-US" sz="1200" dirty="0"/>
          </a:p>
        </p:txBody>
      </p:sp>
      <p:sp>
        <p:nvSpPr>
          <p:cNvPr id="272" name="detail_c_body"/>
          <p:cNvSpPr/>
          <p:nvPr/>
        </p:nvSpPr>
        <p:spPr>
          <a:xfrm>
            <a:off x="8171688" y="5458968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工程验证挂在状态与写入路径；科研验证在冻结协议下。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对照不受约束智能体，只比协议遵守与证据绑定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38684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· 研究思路与技术路线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2" name="Text 9"/>
          <p:cNvSpPr/>
          <p:nvPr/>
        </p:nvSpPr>
        <p:spPr>
          <a:xfrm>
            <a:off x="713232" y="914400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技术路线（拟设计）：智能体提议、内核裁决、独立评估，全程可回溯</a:t>
            </a:r>
            <a:endParaRPr lang="en-US" sz="1900" dirty="0"/>
          </a:p>
        </p:txBody>
      </p:sp>
      <p:sp>
        <p:nvSpPr>
          <p:cNvPr id="200" name="note_boundary"/>
          <p:cNvSpPr/>
          <p:nvPr/>
        </p:nvSpPr>
        <p:spPr>
          <a:xfrm>
            <a:off x="502920" y="4967859"/>
            <a:ext cx="6949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研究思路：先输入后内核、先内核后界面 · 摘要/ID → 合法动作 → 评分回执/判断</a:t>
            </a:r>
            <a:endParaRPr lang="en-US" sz="1150" dirty="0"/>
          </a:p>
        </p:txBody>
      </p:sp>
      <p:sp>
        <p:nvSpPr>
          <p:cNvPr id="201" name="tag_plan"/>
          <p:cNvSpPr/>
          <p:nvPr/>
        </p:nvSpPr>
        <p:spPr>
          <a:xfrm>
            <a:off x="9418320" y="1664208"/>
            <a:ext cx="231343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拟设计 · 本地优先</a:t>
            </a:r>
            <a:endParaRPr lang="en-US" sz="1150" dirty="0"/>
          </a:p>
        </p:txBody>
      </p:sp>
      <p:sp>
        <p:nvSpPr>
          <p:cNvPr id="202" name="workbench"/>
          <p:cNvSpPr/>
          <p:nvPr/>
        </p:nvSpPr>
        <p:spPr>
          <a:xfrm>
            <a:off x="1783080" y="1828800"/>
            <a:ext cx="1737360" cy="548640"/>
          </a:xfrm>
          <a:prstGeom prst="roundRect">
            <a:avLst>
              <a:gd name="adj" fmla="val 20000"/>
            </a:avLst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03" name="workbench_label"/>
          <p:cNvSpPr/>
          <p:nvPr/>
        </p:nvSpPr>
        <p:spPr>
          <a:xfrm>
            <a:off x="1783080" y="182880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 / CLI</a:t>
            </a:r>
            <a:endParaRPr lang="en-US" sz="1400" dirty="0"/>
          </a:p>
        </p:txBody>
      </p:sp>
      <p:sp>
        <p:nvSpPr>
          <p:cNvPr id="204" name="workbench_note"/>
          <p:cNvSpPr/>
          <p:nvPr/>
        </p:nvSpPr>
        <p:spPr>
          <a:xfrm>
            <a:off x="1783080" y="239572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只提交动作</a:t>
            </a:r>
            <a:endParaRPr lang="en-US" sz="1150" dirty="0"/>
          </a:p>
        </p:txBody>
      </p:sp>
      <p:sp>
        <p:nvSpPr>
          <p:cNvPr id="205" name="workbench_to_kernel_0"/>
          <p:cNvSpPr/>
          <p:nvPr/>
        </p:nvSpPr>
        <p:spPr>
          <a:xfrm>
            <a:off x="3520440" y="2103120"/>
            <a:ext cx="502920" cy="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</a:ln>
        </p:spPr>
      </p:sp>
      <p:sp>
        <p:nvSpPr>
          <p:cNvPr id="206" name="workbench_to_kernel_1"/>
          <p:cNvSpPr/>
          <p:nvPr/>
        </p:nvSpPr>
        <p:spPr>
          <a:xfrm>
            <a:off x="4023360" y="2103120"/>
            <a:ext cx="0" cy="594360"/>
          </a:xfrm>
          <a:prstGeom prst="line">
            <a:avLst/>
          </a:prstGeom>
          <a:noFill/>
          <a:ln w="19050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07" name="agent"/>
          <p:cNvSpPr/>
          <p:nvPr/>
        </p:nvSpPr>
        <p:spPr>
          <a:xfrm>
            <a:off x="4343400" y="1691640"/>
            <a:ext cx="21031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08" name="agent_label"/>
          <p:cNvSpPr/>
          <p:nvPr/>
        </p:nvSpPr>
        <p:spPr>
          <a:xfrm>
            <a:off x="4343400" y="1691640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智能体</a:t>
            </a:r>
            <a:endParaRPr lang="en-US" sz="1400" dirty="0"/>
          </a:p>
        </p:txBody>
      </p:sp>
      <p:sp>
        <p:nvSpPr>
          <p:cNvPr id="209" name="agent_sub"/>
          <p:cNvSpPr/>
          <p:nvPr/>
        </p:nvSpPr>
        <p:spPr>
          <a:xfrm>
            <a:off x="4343400" y="2039112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可替换 · 只能提议</a:t>
            </a:r>
            <a:endParaRPr lang="en-US" sz="1150" dirty="0"/>
          </a:p>
        </p:txBody>
      </p:sp>
      <p:sp>
        <p:nvSpPr>
          <p:cNvPr id="210" name="propose"/>
          <p:cNvSpPr/>
          <p:nvPr/>
        </p:nvSpPr>
        <p:spPr>
          <a:xfrm>
            <a:off x="4937760" y="2350008"/>
            <a:ext cx="0" cy="347472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1" name="propose_label"/>
          <p:cNvSpPr/>
          <p:nvPr/>
        </p:nvSpPr>
        <p:spPr>
          <a:xfrm>
            <a:off x="5001768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提议</a:t>
            </a:r>
            <a:endParaRPr lang="en-US" sz="1150" dirty="0"/>
          </a:p>
        </p:txBody>
      </p:sp>
      <p:sp>
        <p:nvSpPr>
          <p:cNvPr id="212" name="reject"/>
          <p:cNvSpPr/>
          <p:nvPr/>
        </p:nvSpPr>
        <p:spPr>
          <a:xfrm>
            <a:off x="5943600" y="2350008"/>
            <a:ext cx="0" cy="347472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  <a:headEnd type="triangle"/>
          </a:ln>
        </p:spPr>
      </p:sp>
      <p:sp>
        <p:nvSpPr>
          <p:cNvPr id="213" name="reject_label"/>
          <p:cNvSpPr/>
          <p:nvPr/>
        </p:nvSpPr>
        <p:spPr>
          <a:xfrm>
            <a:off x="5998464" y="23774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拒绝 · 回滚</a:t>
            </a:r>
            <a:endParaRPr lang="en-US" sz="1150" dirty="0"/>
          </a:p>
        </p:txBody>
      </p:sp>
      <p:sp>
        <p:nvSpPr>
          <p:cNvPr id="214" name="inputs_zone"/>
          <p:cNvSpPr/>
          <p:nvPr/>
        </p:nvSpPr>
        <p:spPr>
          <a:xfrm>
            <a:off x="502920" y="2697480"/>
            <a:ext cx="1325880" cy="1600200"/>
          </a:xfrm>
          <a:prstGeom prst="rect">
            <a:avLst/>
          </a:prstGeom>
          <a:solidFill>
            <a:srgbClr val="F2F5F6"/>
          </a:solidFill>
          <a:ln w="9525">
            <a:solidFill>
              <a:srgbClr val="A6B4B9"/>
            </a:solidFill>
            <a:prstDash val="solid"/>
          </a:ln>
        </p:spPr>
      </p:sp>
      <p:sp>
        <p:nvSpPr>
          <p:cNvPr id="215" name="inputs_title"/>
          <p:cNvSpPr/>
          <p:nvPr/>
        </p:nvSpPr>
        <p:spPr>
          <a:xfrm>
            <a:off x="502920" y="2743200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多源输入</a:t>
            </a:r>
            <a:endParaRPr lang="en-US" sz="1150" dirty="0"/>
          </a:p>
        </p:txBody>
      </p:sp>
      <p:sp>
        <p:nvSpPr>
          <p:cNvPr id="216" name="input_0"/>
          <p:cNvSpPr/>
          <p:nvPr/>
        </p:nvSpPr>
        <p:spPr>
          <a:xfrm>
            <a:off x="594360" y="3063240"/>
            <a:ext cx="1143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17" name="input_0_t"/>
          <p:cNvSpPr/>
          <p:nvPr/>
        </p:nvSpPr>
        <p:spPr>
          <a:xfrm>
            <a:off x="594360" y="3063240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</a:t>
            </a:r>
            <a:endParaRPr lang="en-US" sz="1150" dirty="0"/>
          </a:p>
        </p:txBody>
      </p:sp>
      <p:sp>
        <p:nvSpPr>
          <p:cNvPr id="218" name="input_1"/>
          <p:cNvSpPr/>
          <p:nvPr/>
        </p:nvSpPr>
        <p:spPr>
          <a:xfrm>
            <a:off x="594360" y="3465576"/>
            <a:ext cx="1143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19" name="input_1_t"/>
          <p:cNvSpPr/>
          <p:nvPr/>
        </p:nvSpPr>
        <p:spPr>
          <a:xfrm>
            <a:off x="594360" y="3465576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代码修订</a:t>
            </a:r>
            <a:endParaRPr lang="en-US" sz="1150" dirty="0"/>
          </a:p>
        </p:txBody>
      </p:sp>
      <p:sp>
        <p:nvSpPr>
          <p:cNvPr id="220" name="input_2"/>
          <p:cNvSpPr/>
          <p:nvPr/>
        </p:nvSpPr>
        <p:spPr>
          <a:xfrm>
            <a:off x="594360" y="3867912"/>
            <a:ext cx="1143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21" name="input_2_t"/>
          <p:cNvSpPr/>
          <p:nvPr/>
        </p:nvSpPr>
        <p:spPr>
          <a:xfrm>
            <a:off x="594360" y="3867912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实验产物</a:t>
            </a:r>
            <a:endParaRPr lang="en-US" sz="1150" dirty="0"/>
          </a:p>
        </p:txBody>
      </p:sp>
      <p:sp>
        <p:nvSpPr>
          <p:cNvPr id="222" name="inputs_to_reg"/>
          <p:cNvSpPr/>
          <p:nvPr/>
        </p:nvSpPr>
        <p:spPr>
          <a:xfrm>
            <a:off x="1828800" y="3497580"/>
            <a:ext cx="32004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23" name="register"/>
          <p:cNvSpPr/>
          <p:nvPr/>
        </p:nvSpPr>
        <p:spPr>
          <a:xfrm>
            <a:off x="2148840" y="3063240"/>
            <a:ext cx="1234440" cy="868680"/>
          </a:xfrm>
          <a:prstGeom prst="rect">
            <a:avLst/>
          </a:prstGeom>
          <a:solidFill>
            <a:srgbClr val="F2F5F6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24" name="register_label"/>
          <p:cNvSpPr/>
          <p:nvPr/>
        </p:nvSpPr>
        <p:spPr>
          <a:xfrm>
            <a:off x="2148840" y="3168396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分源登记</a:t>
            </a:r>
            <a:endParaRPr lang="en-US" sz="1400" dirty="0"/>
          </a:p>
        </p:txBody>
      </p:sp>
      <p:sp>
        <p:nvSpPr>
          <p:cNvPr id="225" name="register_sub"/>
          <p:cNvSpPr/>
          <p:nvPr/>
        </p:nvSpPr>
        <p:spPr>
          <a:xfrm>
            <a:off x="2148840" y="3515868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摘要 · ID</a:t>
            </a:r>
            <a:endParaRPr lang="en-US" sz="1150" dirty="0"/>
          </a:p>
        </p:txBody>
      </p:sp>
      <p:sp>
        <p:nvSpPr>
          <p:cNvPr id="226" name="tag_a"/>
          <p:cNvSpPr/>
          <p:nvPr/>
        </p:nvSpPr>
        <p:spPr>
          <a:xfrm>
            <a:off x="3401568" y="281635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227" name="reg_to_kernel"/>
          <p:cNvSpPr/>
          <p:nvPr/>
        </p:nvSpPr>
        <p:spPr>
          <a:xfrm>
            <a:off x="3383280" y="3497580"/>
            <a:ext cx="36576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28" name="kernel"/>
          <p:cNvSpPr/>
          <p:nvPr/>
        </p:nvSpPr>
        <p:spPr>
          <a:xfrm>
            <a:off x="3749040" y="2697480"/>
            <a:ext cx="2743200" cy="1600200"/>
          </a:xfrm>
          <a:prstGeom prst="roundRect">
            <a:avLst>
              <a:gd name="adj" fmla="val 6857"/>
            </a:avLst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29" name="kernel_title"/>
          <p:cNvSpPr/>
          <p:nvPr/>
        </p:nvSpPr>
        <p:spPr>
          <a:xfrm>
            <a:off x="3749040" y="274320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科研内核</a:t>
            </a:r>
            <a:endParaRPr lang="en-US" sz="1500" dirty="0"/>
          </a:p>
        </p:txBody>
      </p:sp>
      <p:sp>
        <p:nvSpPr>
          <p:cNvPr id="230" name="kernel_s1"/>
          <p:cNvSpPr/>
          <p:nvPr/>
        </p:nvSpPr>
        <p:spPr>
          <a:xfrm>
            <a:off x="3977640" y="3200400"/>
            <a:ext cx="228600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1" name="kernel_s1_t"/>
          <p:cNvSpPr/>
          <p:nvPr/>
        </p:nvSpPr>
        <p:spPr>
          <a:xfrm>
            <a:off x="3977640" y="320040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状态机 · 唯一写入方</a:t>
            </a:r>
            <a:endParaRPr lang="en-US" sz="1150" dirty="0"/>
          </a:p>
        </p:txBody>
      </p:sp>
      <p:sp>
        <p:nvSpPr>
          <p:cNvPr id="232" name="kernel_s2"/>
          <p:cNvSpPr/>
          <p:nvPr/>
        </p:nvSpPr>
        <p:spPr>
          <a:xfrm>
            <a:off x="3977640" y="3657600"/>
            <a:ext cx="2286000" cy="34747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3" name="kernel_s2_t"/>
          <p:cNvSpPr/>
          <p:nvPr/>
        </p:nvSpPr>
        <p:spPr>
          <a:xfrm>
            <a:off x="3977640" y="365760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非法转移整体回滚</a:t>
            </a:r>
            <a:endParaRPr lang="en-US" sz="1150" dirty="0"/>
          </a:p>
        </p:txBody>
      </p:sp>
      <p:sp>
        <p:nvSpPr>
          <p:cNvPr id="234" name="tag_b"/>
          <p:cNvSpPr/>
          <p:nvPr/>
        </p:nvSpPr>
        <p:spPr>
          <a:xfrm>
            <a:off x="6510528" y="4041648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150" dirty="0"/>
          </a:p>
        </p:txBody>
      </p:sp>
      <p:sp>
        <p:nvSpPr>
          <p:cNvPr id="235" name="kernel_to_exec"/>
          <p:cNvSpPr/>
          <p:nvPr/>
        </p:nvSpPr>
        <p:spPr>
          <a:xfrm>
            <a:off x="6492240" y="3497580"/>
            <a:ext cx="41148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36" name="exec"/>
          <p:cNvSpPr/>
          <p:nvPr/>
        </p:nvSpPr>
        <p:spPr>
          <a:xfrm>
            <a:off x="6903720" y="306324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37" name="exec_label"/>
          <p:cNvSpPr/>
          <p:nvPr/>
        </p:nvSpPr>
        <p:spPr>
          <a:xfrm>
            <a:off x="6903720" y="316839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隔离执行</a:t>
            </a:r>
            <a:endParaRPr lang="en-US" sz="1400" dirty="0"/>
          </a:p>
        </p:txBody>
      </p:sp>
      <p:sp>
        <p:nvSpPr>
          <p:cNvPr id="238" name="exec_sub"/>
          <p:cNvSpPr/>
          <p:nvPr/>
        </p:nvSpPr>
        <p:spPr>
          <a:xfrm>
            <a:off x="6903720" y="351586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沙箱 · 信任等级</a:t>
            </a:r>
            <a:endParaRPr lang="en-US" sz="1150" dirty="0"/>
          </a:p>
        </p:txBody>
      </p:sp>
      <p:sp>
        <p:nvSpPr>
          <p:cNvPr id="239" name="exec_to_eval"/>
          <p:cNvSpPr/>
          <p:nvPr/>
        </p:nvSpPr>
        <p:spPr>
          <a:xfrm>
            <a:off x="8275320" y="3497580"/>
            <a:ext cx="36576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40" name="eval"/>
          <p:cNvSpPr/>
          <p:nvPr/>
        </p:nvSpPr>
        <p:spPr>
          <a:xfrm>
            <a:off x="8641080" y="3063240"/>
            <a:ext cx="1417320" cy="86868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41" name="eval_label"/>
          <p:cNvSpPr/>
          <p:nvPr/>
        </p:nvSpPr>
        <p:spPr>
          <a:xfrm>
            <a:off x="8641080" y="3168396"/>
            <a:ext cx="1417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独立评估</a:t>
            </a:r>
            <a:endParaRPr lang="en-US" sz="1400" dirty="0"/>
          </a:p>
        </p:txBody>
      </p:sp>
      <p:sp>
        <p:nvSpPr>
          <p:cNvPr id="242" name="eval_sub"/>
          <p:cNvSpPr/>
          <p:nvPr/>
        </p:nvSpPr>
        <p:spPr>
          <a:xfrm>
            <a:off x="8641080" y="3515868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重算分数</a:t>
            </a:r>
            <a:endParaRPr lang="en-US" sz="1150" dirty="0"/>
          </a:p>
        </p:txBody>
      </p:sp>
      <p:sp>
        <p:nvSpPr>
          <p:cNvPr id="243" name="tag_c"/>
          <p:cNvSpPr/>
          <p:nvPr/>
        </p:nvSpPr>
        <p:spPr>
          <a:xfrm>
            <a:off x="10058400" y="2816352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150" dirty="0"/>
          </a:p>
        </p:txBody>
      </p:sp>
      <p:sp>
        <p:nvSpPr>
          <p:cNvPr id="244" name="eval_to_claim"/>
          <p:cNvSpPr/>
          <p:nvPr/>
        </p:nvSpPr>
        <p:spPr>
          <a:xfrm>
            <a:off x="10058400" y="3497580"/>
            <a:ext cx="36576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45" name="claim"/>
          <p:cNvSpPr/>
          <p:nvPr/>
        </p:nvSpPr>
        <p:spPr>
          <a:xfrm>
            <a:off x="10424160" y="2971800"/>
            <a:ext cx="1307592" cy="1051560"/>
          </a:xfrm>
          <a:prstGeom prst="flowChartDocumen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46" name="claim_label"/>
          <p:cNvSpPr/>
          <p:nvPr/>
        </p:nvSpPr>
        <p:spPr>
          <a:xfrm>
            <a:off x="10424160" y="3168396"/>
            <a:ext cx="13075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声明</a:t>
            </a:r>
            <a:endParaRPr lang="en-US" sz="1400" dirty="0"/>
          </a:p>
        </p:txBody>
      </p:sp>
      <p:sp>
        <p:nvSpPr>
          <p:cNvPr id="247" name="claim_sub"/>
          <p:cNvSpPr/>
          <p:nvPr/>
        </p:nvSpPr>
        <p:spPr>
          <a:xfrm>
            <a:off x="10424160" y="3515868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评分回执</a:t>
            </a:r>
            <a:endParaRPr lang="en-US" sz="1150" dirty="0"/>
          </a:p>
        </p:txBody>
      </p:sp>
      <p:sp>
        <p:nvSpPr>
          <p:cNvPr id="248" name="receipt_loop_0"/>
          <p:cNvSpPr/>
          <p:nvPr/>
        </p:nvSpPr>
        <p:spPr>
          <a:xfrm>
            <a:off x="9326880" y="2020824"/>
            <a:ext cx="0" cy="1042416"/>
          </a:xfrm>
          <a:prstGeom prst="line">
            <a:avLst/>
          </a:prstGeom>
          <a:noFill/>
          <a:ln w="15875">
            <a:solidFill>
              <a:srgbClr val="52636A"/>
            </a:solidFill>
            <a:prstDash val="dash"/>
          </a:ln>
        </p:spPr>
      </p:sp>
      <p:sp>
        <p:nvSpPr>
          <p:cNvPr id="249" name="receipt_loop_1"/>
          <p:cNvSpPr/>
          <p:nvPr/>
        </p:nvSpPr>
        <p:spPr>
          <a:xfrm>
            <a:off x="6446520" y="2020824"/>
            <a:ext cx="2880360" cy="0"/>
          </a:xfrm>
          <a:prstGeom prst="line">
            <a:avLst/>
          </a:prstGeom>
          <a:noFill/>
          <a:ln w="15875">
            <a:solidFill>
              <a:srgbClr val="52636A"/>
            </a:solidFill>
            <a:prstDash val="dash"/>
            <a:headEnd type="triangle"/>
          </a:ln>
        </p:spPr>
      </p:sp>
      <p:sp>
        <p:nvSpPr>
          <p:cNvPr id="250" name="receipt_label"/>
          <p:cNvSpPr/>
          <p:nvPr/>
        </p:nvSpPr>
        <p:spPr>
          <a:xfrm>
            <a:off x="6858000" y="171907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评分回执 → 下一轮提议</a:t>
            </a:r>
            <a:endParaRPr lang="en-US" sz="1150" dirty="0"/>
          </a:p>
        </p:txBody>
      </p:sp>
      <p:sp>
        <p:nvSpPr>
          <p:cNvPr id="251" name="chain_title"/>
          <p:cNvSpPr/>
          <p:nvPr/>
        </p:nvSpPr>
        <p:spPr>
          <a:xfrm>
            <a:off x="502920" y="4611243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事件哈希链</a:t>
            </a:r>
            <a:endParaRPr lang="en-US" sz="1400" dirty="0"/>
          </a:p>
        </p:txBody>
      </p:sp>
      <p:sp>
        <p:nvSpPr>
          <p:cNvPr id="252" name="chain_0"/>
          <p:cNvSpPr/>
          <p:nvPr/>
        </p:nvSpPr>
        <p:spPr>
          <a:xfrm>
            <a:off x="2601468" y="4572000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53" name="chain_l0"/>
          <p:cNvSpPr/>
          <p:nvPr/>
        </p:nvSpPr>
        <p:spPr>
          <a:xfrm>
            <a:off x="2930652" y="4727448"/>
            <a:ext cx="836676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54" name="chain_1"/>
          <p:cNvSpPr/>
          <p:nvPr/>
        </p:nvSpPr>
        <p:spPr>
          <a:xfrm>
            <a:off x="3767328" y="4572000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55" name="chain_l1"/>
          <p:cNvSpPr/>
          <p:nvPr/>
        </p:nvSpPr>
        <p:spPr>
          <a:xfrm>
            <a:off x="4096512" y="4727448"/>
            <a:ext cx="859536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56" name="chain_2"/>
          <p:cNvSpPr/>
          <p:nvPr/>
        </p:nvSpPr>
        <p:spPr>
          <a:xfrm>
            <a:off x="4956048" y="4572000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57" name="chain_l2"/>
          <p:cNvSpPr/>
          <p:nvPr/>
        </p:nvSpPr>
        <p:spPr>
          <a:xfrm>
            <a:off x="5285232" y="4727448"/>
            <a:ext cx="905256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58" name="chain_3"/>
          <p:cNvSpPr/>
          <p:nvPr/>
        </p:nvSpPr>
        <p:spPr>
          <a:xfrm>
            <a:off x="6190488" y="4572000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59" name="chain_l3"/>
          <p:cNvSpPr/>
          <p:nvPr/>
        </p:nvSpPr>
        <p:spPr>
          <a:xfrm>
            <a:off x="6519672" y="4727448"/>
            <a:ext cx="905256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60" name="chain_4"/>
          <p:cNvSpPr/>
          <p:nvPr/>
        </p:nvSpPr>
        <p:spPr>
          <a:xfrm>
            <a:off x="7424928" y="4572000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61" name="chain_l4"/>
          <p:cNvSpPr/>
          <p:nvPr/>
        </p:nvSpPr>
        <p:spPr>
          <a:xfrm>
            <a:off x="7754112" y="4727448"/>
            <a:ext cx="585216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62" name="chain_5"/>
          <p:cNvSpPr/>
          <p:nvPr/>
        </p:nvSpPr>
        <p:spPr>
          <a:xfrm>
            <a:off x="8339328" y="4572000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63" name="chain_l5"/>
          <p:cNvSpPr/>
          <p:nvPr/>
        </p:nvSpPr>
        <p:spPr>
          <a:xfrm>
            <a:off x="8668512" y="4727448"/>
            <a:ext cx="516636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64" name="chain_6"/>
          <p:cNvSpPr/>
          <p:nvPr/>
        </p:nvSpPr>
        <p:spPr>
          <a:xfrm>
            <a:off x="9185148" y="4572000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65" name="chain_l6"/>
          <p:cNvSpPr/>
          <p:nvPr/>
        </p:nvSpPr>
        <p:spPr>
          <a:xfrm>
            <a:off x="9514332" y="4727448"/>
            <a:ext cx="562356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66" name="chain_7"/>
          <p:cNvSpPr/>
          <p:nvPr/>
        </p:nvSpPr>
        <p:spPr>
          <a:xfrm>
            <a:off x="10076688" y="4572000"/>
            <a:ext cx="32918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67" name="chain_l7"/>
          <p:cNvSpPr/>
          <p:nvPr/>
        </p:nvSpPr>
        <p:spPr>
          <a:xfrm>
            <a:off x="10405872" y="4727448"/>
            <a:ext cx="507492" cy="0"/>
          </a:xfrm>
          <a:prstGeom prst="line">
            <a:avLst/>
          </a:prstGeom>
          <a:noFill/>
          <a:ln w="12700">
            <a:solidFill>
              <a:srgbClr val="1E4FA8"/>
            </a:solidFill>
            <a:prstDash val="solid"/>
          </a:ln>
        </p:spPr>
      </p:sp>
      <p:sp>
        <p:nvSpPr>
          <p:cNvPr id="268" name="chain_8"/>
          <p:cNvSpPr/>
          <p:nvPr/>
        </p:nvSpPr>
        <p:spPr>
          <a:xfrm>
            <a:off x="10913364" y="4572000"/>
            <a:ext cx="329184" cy="310896"/>
          </a:xfrm>
          <a:prstGeom prst="rect">
            <a:avLst/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69" name="tie_0"/>
          <p:cNvSpPr/>
          <p:nvPr/>
        </p:nvSpPr>
        <p:spPr>
          <a:xfrm>
            <a:off x="2766060" y="3931920"/>
            <a:ext cx="0" cy="640080"/>
          </a:xfrm>
          <a:prstGeom prst="line">
            <a:avLst/>
          </a:prstGeom>
          <a:noFill/>
          <a:ln w="12700">
            <a:solidFill>
              <a:srgbClr val="A6B4B9"/>
            </a:solidFill>
            <a:prstDash val="dash"/>
          </a:ln>
        </p:spPr>
      </p:sp>
      <p:sp>
        <p:nvSpPr>
          <p:cNvPr id="270" name="tie_1"/>
          <p:cNvSpPr/>
          <p:nvPr/>
        </p:nvSpPr>
        <p:spPr>
          <a:xfrm>
            <a:off x="5120640" y="4297680"/>
            <a:ext cx="0" cy="274320"/>
          </a:xfrm>
          <a:prstGeom prst="line">
            <a:avLst/>
          </a:prstGeom>
          <a:noFill/>
          <a:ln w="12700">
            <a:solidFill>
              <a:srgbClr val="A6B4B9"/>
            </a:solidFill>
            <a:prstDash val="dash"/>
          </a:ln>
        </p:spPr>
      </p:sp>
      <p:sp>
        <p:nvSpPr>
          <p:cNvPr id="271" name="tie_2"/>
          <p:cNvSpPr/>
          <p:nvPr/>
        </p:nvSpPr>
        <p:spPr>
          <a:xfrm>
            <a:off x="7589520" y="3931920"/>
            <a:ext cx="0" cy="640080"/>
          </a:xfrm>
          <a:prstGeom prst="line">
            <a:avLst/>
          </a:prstGeom>
          <a:noFill/>
          <a:ln w="12700">
            <a:solidFill>
              <a:srgbClr val="A6B4B9"/>
            </a:solidFill>
            <a:prstDash val="dash"/>
          </a:ln>
        </p:spPr>
      </p:sp>
      <p:sp>
        <p:nvSpPr>
          <p:cNvPr id="272" name="tie_3"/>
          <p:cNvSpPr/>
          <p:nvPr/>
        </p:nvSpPr>
        <p:spPr>
          <a:xfrm>
            <a:off x="9349740" y="3931920"/>
            <a:ext cx="0" cy="640080"/>
          </a:xfrm>
          <a:prstGeom prst="line">
            <a:avLst/>
          </a:prstGeom>
          <a:noFill/>
          <a:ln w="12700">
            <a:solidFill>
              <a:srgbClr val="A6B4B9"/>
            </a:solidFill>
            <a:prstDash val="dash"/>
          </a:ln>
        </p:spPr>
      </p:sp>
      <p:sp>
        <p:nvSpPr>
          <p:cNvPr id="273" name="tie_4"/>
          <p:cNvSpPr/>
          <p:nvPr/>
        </p:nvSpPr>
        <p:spPr>
          <a:xfrm>
            <a:off x="11077956" y="3931920"/>
            <a:ext cx="0" cy="640080"/>
          </a:xfrm>
          <a:prstGeom prst="line">
            <a:avLst/>
          </a:prstGeom>
          <a:noFill/>
          <a:ln w="12700">
            <a:solidFill>
              <a:srgbClr val="A6B4B9"/>
            </a:solidFill>
            <a:prstDash val="dash"/>
          </a:ln>
        </p:spPr>
      </p:sp>
      <p:sp>
        <p:nvSpPr>
          <p:cNvPr id="274" name="chain_note"/>
          <p:cNvSpPr/>
          <p:nvPr/>
        </p:nvSpPr>
        <p:spPr>
          <a:xfrm>
            <a:off x="7589520" y="4967859"/>
            <a:ext cx="41422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追加式记录 · 可全量重放审计</a:t>
            </a:r>
            <a:endParaRPr lang="en-US" sz="1150" dirty="0"/>
          </a:p>
        </p:txBody>
      </p:sp>
      <p:sp>
        <p:nvSpPr>
          <p:cNvPr id="275" name="detail_rule"/>
          <p:cNvSpPr/>
          <p:nvPr/>
        </p:nvSpPr>
        <p:spPr>
          <a:xfrm>
            <a:off x="502920" y="5279517"/>
            <a:ext cx="1122883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276" name="detail_a_head"/>
          <p:cNvSpPr/>
          <p:nvPr/>
        </p:nvSpPr>
        <p:spPr>
          <a:xfrm>
            <a:off x="502920" y="5362194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输入登记</a:t>
            </a:r>
            <a:endParaRPr lang="en-US" sz="1200" dirty="0"/>
          </a:p>
        </p:txBody>
      </p:sp>
      <p:sp>
        <p:nvSpPr>
          <p:cNvPr id="277" name="detail_a_body"/>
          <p:cNvSpPr/>
          <p:nvPr/>
        </p:nvSpPr>
        <p:spPr>
          <a:xfrm>
            <a:off x="502920" y="5673090"/>
            <a:ext cx="356006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文献记录来源与全文可达性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代码为不可变修订，产物按角色登记
工作台与 CLI 只提交动作，仅本机访问</a:t>
            </a:r>
            <a:endParaRPr lang="en-US" sz="1100" dirty="0"/>
          </a:p>
        </p:txBody>
      </p:sp>
      <p:sp>
        <p:nvSpPr>
          <p:cNvPr id="278" name="detail_b_head"/>
          <p:cNvSpPr/>
          <p:nvPr/>
        </p:nvSpPr>
        <p:spPr>
          <a:xfrm>
            <a:off x="4337304" y="5362194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科研内核</a:t>
            </a:r>
            <a:endParaRPr lang="en-US" sz="1200" dirty="0"/>
          </a:p>
        </p:txBody>
      </p:sp>
      <p:sp>
        <p:nvSpPr>
          <p:cNvPr id="279" name="detail_b_body"/>
          <p:cNvSpPr/>
          <p:nvPr/>
        </p:nvSpPr>
        <p:spPr>
          <a:xfrm>
            <a:off x="4337304" y="5673090"/>
            <a:ext cx="356006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状态机 · 写入凭据 · 预算账本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幂等命令，失败事务整体回滚
存储：SQLite 事务 + 内容寻址文件</a:t>
            </a:r>
            <a:endParaRPr lang="en-US" sz="1100" dirty="0"/>
          </a:p>
        </p:txBody>
      </p:sp>
      <p:sp>
        <p:nvSpPr>
          <p:cNvPr id="280" name="detail_c_head"/>
          <p:cNvSpPr/>
          <p:nvPr/>
        </p:nvSpPr>
        <p:spPr>
          <a:xfrm>
            <a:off x="8171688" y="5362194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 执行与评估</a:t>
            </a:r>
            <a:endParaRPr lang="en-US" sz="1200" dirty="0"/>
          </a:p>
        </p:txBody>
      </p:sp>
      <p:sp>
        <p:nvSpPr>
          <p:cNvPr id="281" name="detail_c_body"/>
          <p:cNvSpPr/>
          <p:nvPr/>
        </p:nvSpPr>
        <p:spPr>
          <a:xfrm>
            <a:off x="8171688" y="5673090"/>
            <a:ext cx="3560064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OS 原生沙箱，信任等级如实上报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评分代码哈希绑定，确认数据只用一次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19634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· 研究思路与技术路线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2" name="Text 9"/>
          <p:cNvSpPr/>
          <p:nvPr/>
        </p:nvSpPr>
        <p:spPr>
          <a:xfrm>
            <a:off x="713232" y="914400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智能体架构（拟设计）：模型只提议，工具受控，内核裁决</a:t>
            </a:r>
            <a:endParaRPr lang="en-US" sz="1900" dirty="0"/>
          </a:p>
        </p:txBody>
      </p:sp>
      <p:sp>
        <p:nvSpPr>
          <p:cNvPr id="200" name="next_round_0"/>
          <p:cNvSpPr/>
          <p:nvPr/>
        </p:nvSpPr>
        <p:spPr>
          <a:xfrm>
            <a:off x="10858500" y="1906905"/>
            <a:ext cx="0" cy="548640"/>
          </a:xfrm>
          <a:prstGeom prst="line">
            <a:avLst/>
          </a:prstGeom>
          <a:noFill/>
          <a:ln w="19050">
            <a:solidFill>
              <a:srgbClr val="1E4FA8"/>
            </a:solidFill>
            <a:prstDash val="dash"/>
          </a:ln>
        </p:spPr>
      </p:sp>
      <p:sp>
        <p:nvSpPr>
          <p:cNvPr id="201" name="next_round_1"/>
          <p:cNvSpPr/>
          <p:nvPr/>
        </p:nvSpPr>
        <p:spPr>
          <a:xfrm>
            <a:off x="1120140" y="1906905"/>
            <a:ext cx="9738360" cy="0"/>
          </a:xfrm>
          <a:prstGeom prst="line">
            <a:avLst/>
          </a:prstGeom>
          <a:noFill/>
          <a:ln w="19050">
            <a:solidFill>
              <a:srgbClr val="1E4FA8"/>
            </a:solidFill>
            <a:prstDash val="dash"/>
          </a:ln>
        </p:spPr>
      </p:sp>
      <p:sp>
        <p:nvSpPr>
          <p:cNvPr id="202" name="next_round_2"/>
          <p:cNvSpPr/>
          <p:nvPr/>
        </p:nvSpPr>
        <p:spPr>
          <a:xfrm>
            <a:off x="1120140" y="1906905"/>
            <a:ext cx="0" cy="548640"/>
          </a:xfrm>
          <a:prstGeom prst="line">
            <a:avLst/>
          </a:prstGeom>
          <a:noFill/>
          <a:ln w="19050">
            <a:solidFill>
              <a:srgbClr val="1E4FA8"/>
            </a:solidFill>
            <a:prstDash val="dash"/>
            <a:tailEnd type="triangle"/>
          </a:ln>
        </p:spPr>
      </p:sp>
      <p:sp>
        <p:nvSpPr>
          <p:cNvPr id="203" name="next_round_label"/>
          <p:cNvSpPr/>
          <p:nvPr/>
        </p:nvSpPr>
        <p:spPr>
          <a:xfrm>
            <a:off x="3566160" y="1583817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评分回执作为观察写回研究状态 → 下一轮提议</a:t>
            </a:r>
            <a:endParaRPr lang="en-US" sz="1150" dirty="0"/>
          </a:p>
        </p:txBody>
      </p:sp>
      <p:sp>
        <p:nvSpPr>
          <p:cNvPr id="204" name="state"/>
          <p:cNvSpPr/>
          <p:nvPr/>
        </p:nvSpPr>
        <p:spPr>
          <a:xfrm>
            <a:off x="502920" y="2455545"/>
            <a:ext cx="1234440" cy="1188720"/>
          </a:xfrm>
          <a:prstGeom prst="rect">
            <a:avLst/>
          </a:prstGeom>
          <a:solidFill>
            <a:srgbClr val="F2F5F6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05" name="state_label"/>
          <p:cNvSpPr/>
          <p:nvPr/>
        </p:nvSpPr>
        <p:spPr>
          <a:xfrm>
            <a:off x="502920" y="2720721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研究状态</a:t>
            </a:r>
            <a:endParaRPr lang="en-US" sz="1400" dirty="0"/>
          </a:p>
        </p:txBody>
      </p:sp>
      <p:sp>
        <p:nvSpPr>
          <p:cNvPr id="206" name="state_sub"/>
          <p:cNvSpPr/>
          <p:nvPr/>
        </p:nvSpPr>
        <p:spPr>
          <a:xfrm>
            <a:off x="502920" y="3068193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合法动作集</a:t>
            </a:r>
            <a:endParaRPr lang="en-US" sz="1150" dirty="0"/>
          </a:p>
        </p:txBody>
      </p:sp>
      <p:sp>
        <p:nvSpPr>
          <p:cNvPr id="207" name="state_to_llm"/>
          <p:cNvSpPr/>
          <p:nvPr/>
        </p:nvSpPr>
        <p:spPr>
          <a:xfrm>
            <a:off x="1737360" y="3049905"/>
            <a:ext cx="27432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08" name="llm"/>
          <p:cNvSpPr/>
          <p:nvPr/>
        </p:nvSpPr>
        <p:spPr>
          <a:xfrm>
            <a:off x="2011680" y="2318385"/>
            <a:ext cx="17373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09" name="llm_label"/>
          <p:cNvSpPr/>
          <p:nvPr/>
        </p:nvSpPr>
        <p:spPr>
          <a:xfrm>
            <a:off x="2011680" y="2391537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策略</a:t>
            </a:r>
            <a:endParaRPr lang="en-US" sz="1400" dirty="0"/>
          </a:p>
        </p:txBody>
      </p:sp>
      <p:sp>
        <p:nvSpPr>
          <p:cNvPr id="210" name="llm_sub"/>
          <p:cNvSpPr/>
          <p:nvPr/>
        </p:nvSpPr>
        <p:spPr>
          <a:xfrm>
            <a:off x="2011680" y="2739009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BYOK 兼容端点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 · DeepSeek</a:t>
            </a:r>
            <a:endParaRPr lang="en-US" sz="1100" dirty="0"/>
          </a:p>
        </p:txBody>
      </p:sp>
      <p:sp>
        <p:nvSpPr>
          <p:cNvPr id="211" name="llm_fb"/>
          <p:cNvSpPr/>
          <p:nvPr/>
        </p:nvSpPr>
        <p:spPr>
          <a:xfrm>
            <a:off x="2121408" y="3305937"/>
            <a:ext cx="1517904" cy="347472"/>
          </a:xfrm>
          <a:prstGeom prst="rect">
            <a:avLst/>
          </a:prstGeom>
          <a:solidFill>
            <a:srgbClr val="F2F5F6"/>
          </a:solidFill>
        </p:spPr>
      </p:sp>
      <p:sp>
        <p:nvSpPr>
          <p:cNvPr id="212" name="llm_fb_t"/>
          <p:cNvSpPr/>
          <p:nvPr/>
        </p:nvSpPr>
        <p:spPr>
          <a:xfrm>
            <a:off x="2121408" y="3305937"/>
            <a:ext cx="15179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 key → 确定性策略</a:t>
            </a:r>
            <a:endParaRPr lang="en-US" sz="1050" dirty="0"/>
          </a:p>
        </p:txBody>
      </p:sp>
      <p:sp>
        <p:nvSpPr>
          <p:cNvPr id="213" name="tag_a"/>
          <p:cNvSpPr/>
          <p:nvPr/>
        </p:nvSpPr>
        <p:spPr>
          <a:xfrm>
            <a:off x="3767328" y="2208657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214" name="llm_to_prop"/>
          <p:cNvSpPr/>
          <p:nvPr/>
        </p:nvSpPr>
        <p:spPr>
          <a:xfrm>
            <a:off x="3749040" y="3049905"/>
            <a:ext cx="27432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5" name="prop"/>
          <p:cNvSpPr/>
          <p:nvPr/>
        </p:nvSpPr>
        <p:spPr>
          <a:xfrm>
            <a:off x="4023360" y="2455545"/>
            <a:ext cx="1325880" cy="1188720"/>
          </a:xfrm>
          <a:prstGeom prst="flowChartDocumen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16" name="prop_label"/>
          <p:cNvSpPr/>
          <p:nvPr/>
        </p:nvSpPr>
        <p:spPr>
          <a:xfrm>
            <a:off x="4023360" y="2720721"/>
            <a:ext cx="1325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结构化提议</a:t>
            </a:r>
            <a:endParaRPr lang="en-US" sz="1400" dirty="0"/>
          </a:p>
        </p:txBody>
      </p:sp>
      <p:sp>
        <p:nvSpPr>
          <p:cNvPr id="217" name="prop_sub"/>
          <p:cNvSpPr/>
          <p:nvPr/>
        </p:nvSpPr>
        <p:spPr>
          <a:xfrm>
            <a:off x="4023360" y="3068193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JSON 契约</a:t>
            </a:r>
            <a:endParaRPr lang="en-US" sz="1150" dirty="0"/>
          </a:p>
        </p:txBody>
      </p:sp>
      <p:sp>
        <p:nvSpPr>
          <p:cNvPr id="218" name="prop_to_kernel"/>
          <p:cNvSpPr/>
          <p:nvPr/>
        </p:nvSpPr>
        <p:spPr>
          <a:xfrm>
            <a:off x="5349240" y="3049905"/>
            <a:ext cx="27432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9" name="kernel"/>
          <p:cNvSpPr/>
          <p:nvPr/>
        </p:nvSpPr>
        <p:spPr>
          <a:xfrm>
            <a:off x="5623560" y="2181225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20" name="kernel_title"/>
          <p:cNvSpPr/>
          <p:nvPr/>
        </p:nvSpPr>
        <p:spPr>
          <a:xfrm>
            <a:off x="5623560" y="2254377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内核裁决</a:t>
            </a:r>
            <a:endParaRPr lang="en-US" sz="1500" dirty="0"/>
          </a:p>
        </p:txBody>
      </p:sp>
      <p:sp>
        <p:nvSpPr>
          <p:cNvPr id="221" name="kernel_s1"/>
          <p:cNvSpPr/>
          <p:nvPr/>
        </p:nvSpPr>
        <p:spPr>
          <a:xfrm>
            <a:off x="5806440" y="2711577"/>
            <a:ext cx="155448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2" name="kernel_s1_t"/>
          <p:cNvSpPr/>
          <p:nvPr/>
        </p:nvSpPr>
        <p:spPr>
          <a:xfrm>
            <a:off x="5806440" y="2711577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合法转移？</a:t>
            </a:r>
            <a:endParaRPr lang="en-US" sz="1150" dirty="0"/>
          </a:p>
        </p:txBody>
      </p:sp>
      <p:sp>
        <p:nvSpPr>
          <p:cNvPr id="223" name="kernel_s2"/>
          <p:cNvSpPr/>
          <p:nvPr/>
        </p:nvSpPr>
        <p:spPr>
          <a:xfrm>
            <a:off x="5806440" y="3113913"/>
            <a:ext cx="1554480" cy="32918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4" name="kernel_s2_t"/>
          <p:cNvSpPr/>
          <p:nvPr/>
        </p:nvSpPr>
        <p:spPr>
          <a:xfrm>
            <a:off x="5806440" y="3113913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预算可预留？</a:t>
            </a:r>
            <a:endParaRPr lang="en-US" sz="1150" dirty="0"/>
          </a:p>
        </p:txBody>
      </p:sp>
      <p:sp>
        <p:nvSpPr>
          <p:cNvPr id="225" name="kernel_note"/>
          <p:cNvSpPr/>
          <p:nvPr/>
        </p:nvSpPr>
        <p:spPr>
          <a:xfrm>
            <a:off x="5623560" y="3507105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唯一写入方</a:t>
            </a:r>
            <a:endParaRPr lang="en-US" sz="1150" dirty="0"/>
          </a:p>
        </p:txBody>
      </p:sp>
      <p:sp>
        <p:nvSpPr>
          <p:cNvPr id="226" name="tag_b"/>
          <p:cNvSpPr/>
          <p:nvPr/>
        </p:nvSpPr>
        <p:spPr>
          <a:xfrm>
            <a:off x="7562088" y="2071497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150" dirty="0"/>
          </a:p>
        </p:txBody>
      </p:sp>
      <p:sp>
        <p:nvSpPr>
          <p:cNvPr id="227" name="kernel_to_tools"/>
          <p:cNvSpPr/>
          <p:nvPr/>
        </p:nvSpPr>
        <p:spPr>
          <a:xfrm>
            <a:off x="7543800" y="3049905"/>
            <a:ext cx="27432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28" name="authorize"/>
          <p:cNvSpPr/>
          <p:nvPr/>
        </p:nvSpPr>
        <p:spPr>
          <a:xfrm>
            <a:off x="7498080" y="2757297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授权</a:t>
            </a:r>
            <a:endParaRPr lang="en-US" sz="1000" dirty="0"/>
          </a:p>
        </p:txBody>
      </p:sp>
      <p:sp>
        <p:nvSpPr>
          <p:cNvPr id="229" name="tools"/>
          <p:cNvSpPr/>
          <p:nvPr/>
        </p:nvSpPr>
        <p:spPr>
          <a:xfrm>
            <a:off x="7818120" y="2044065"/>
            <a:ext cx="2103120" cy="205740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30" name="tools_label"/>
          <p:cNvSpPr/>
          <p:nvPr/>
        </p:nvSpPr>
        <p:spPr>
          <a:xfrm>
            <a:off x="7818120" y="2098929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受控工具执行</a:t>
            </a:r>
            <a:endParaRPr lang="en-US" sz="1400" dirty="0"/>
          </a:p>
        </p:txBody>
      </p:sp>
      <p:sp>
        <p:nvSpPr>
          <p:cNvPr id="231" name="tools_sub"/>
          <p:cNvSpPr/>
          <p:nvPr/>
        </p:nvSpPr>
        <p:spPr>
          <a:xfrm>
            <a:off x="7818120" y="2382393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OS 原生沙箱隔离</a:t>
            </a:r>
            <a:endParaRPr lang="en-US" sz="1050" dirty="0"/>
          </a:p>
        </p:txBody>
      </p:sp>
      <p:sp>
        <p:nvSpPr>
          <p:cNvPr id="232" name="tool_0"/>
          <p:cNvSpPr/>
          <p:nvPr/>
        </p:nvSpPr>
        <p:spPr>
          <a:xfrm>
            <a:off x="7955280" y="2684145"/>
            <a:ext cx="1828800" cy="23774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3" name="tool_0_t"/>
          <p:cNvSpPr/>
          <p:nvPr/>
        </p:nvSpPr>
        <p:spPr>
          <a:xfrm>
            <a:off x="7955280" y="2684145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paper_search 多源检索</a:t>
            </a:r>
            <a:endParaRPr lang="en-US" sz="1150" dirty="0"/>
          </a:p>
        </p:txBody>
      </p:sp>
      <p:sp>
        <p:nvSpPr>
          <p:cNvPr id="234" name="tool_1"/>
          <p:cNvSpPr/>
          <p:nvPr/>
        </p:nvSpPr>
        <p:spPr>
          <a:xfrm>
            <a:off x="7955280" y="2958465"/>
            <a:ext cx="1828800" cy="23774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5" name="tool_1_t"/>
          <p:cNvSpPr/>
          <p:nvPr/>
        </p:nvSpPr>
        <p:spPr>
          <a:xfrm>
            <a:off x="7955280" y="2958465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scoop_run 查新</a:t>
            </a:r>
            <a:endParaRPr lang="en-US" sz="1150" dirty="0"/>
          </a:p>
        </p:txBody>
      </p:sp>
      <p:sp>
        <p:nvSpPr>
          <p:cNvPr id="236" name="tool_2"/>
          <p:cNvSpPr/>
          <p:nvPr/>
        </p:nvSpPr>
        <p:spPr>
          <a:xfrm>
            <a:off x="7955280" y="3232785"/>
            <a:ext cx="1828800" cy="23774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7" name="tool_2_t"/>
          <p:cNvSpPr/>
          <p:nvPr/>
        </p:nvSpPr>
        <p:spPr>
          <a:xfrm>
            <a:off x="7955280" y="3232785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evidence_check 证据核验</a:t>
            </a:r>
            <a:endParaRPr lang="en-US" sz="1150" dirty="0"/>
          </a:p>
        </p:txBody>
      </p:sp>
      <p:sp>
        <p:nvSpPr>
          <p:cNvPr id="238" name="tool_3"/>
          <p:cNvSpPr/>
          <p:nvPr/>
        </p:nvSpPr>
        <p:spPr>
          <a:xfrm>
            <a:off x="7955280" y="3507105"/>
            <a:ext cx="1828800" cy="23774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9" name="tool_3_t"/>
          <p:cNvSpPr/>
          <p:nvPr/>
        </p:nvSpPr>
        <p:spPr>
          <a:xfrm>
            <a:off x="7955280" y="3507105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reproduce 复现</a:t>
            </a:r>
            <a:endParaRPr lang="en-US" sz="1150" dirty="0"/>
          </a:p>
        </p:txBody>
      </p:sp>
      <p:sp>
        <p:nvSpPr>
          <p:cNvPr id="240" name="tool_4"/>
          <p:cNvSpPr/>
          <p:nvPr/>
        </p:nvSpPr>
        <p:spPr>
          <a:xfrm>
            <a:off x="7955280" y="3781425"/>
            <a:ext cx="1828800" cy="23774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1" name="tool_4_t"/>
          <p:cNvSpPr/>
          <p:nvPr/>
        </p:nvSpPr>
        <p:spPr>
          <a:xfrm>
            <a:off x="7955280" y="3781425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fulltext 全文获取</a:t>
            </a:r>
            <a:endParaRPr lang="en-US" sz="1150" dirty="0"/>
          </a:p>
        </p:txBody>
      </p:sp>
      <p:sp>
        <p:nvSpPr>
          <p:cNvPr id="242" name="tag_c"/>
          <p:cNvSpPr/>
          <p:nvPr/>
        </p:nvSpPr>
        <p:spPr>
          <a:xfrm>
            <a:off x="9939528" y="1934337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150" dirty="0"/>
          </a:p>
        </p:txBody>
      </p:sp>
      <p:sp>
        <p:nvSpPr>
          <p:cNvPr id="243" name="tools_to_eval"/>
          <p:cNvSpPr/>
          <p:nvPr/>
        </p:nvSpPr>
        <p:spPr>
          <a:xfrm>
            <a:off x="9921240" y="3049905"/>
            <a:ext cx="27432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44" name="eval"/>
          <p:cNvSpPr/>
          <p:nvPr/>
        </p:nvSpPr>
        <p:spPr>
          <a:xfrm>
            <a:off x="10195560" y="2455545"/>
            <a:ext cx="1325880" cy="1188720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45" name="eval_label"/>
          <p:cNvSpPr/>
          <p:nvPr/>
        </p:nvSpPr>
        <p:spPr>
          <a:xfrm>
            <a:off x="10195560" y="2720721"/>
            <a:ext cx="1325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独立评估</a:t>
            </a:r>
            <a:endParaRPr lang="en-US" sz="1400" dirty="0"/>
          </a:p>
        </p:txBody>
      </p:sp>
      <p:sp>
        <p:nvSpPr>
          <p:cNvPr id="246" name="eval_sub"/>
          <p:cNvSpPr/>
          <p:nvPr/>
        </p:nvSpPr>
        <p:spPr>
          <a:xfrm>
            <a:off x="10195560" y="3068193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评分回执</a:t>
            </a:r>
            <a:endParaRPr lang="en-US" sz="1150" dirty="0"/>
          </a:p>
        </p:txBody>
      </p:sp>
      <p:sp>
        <p:nvSpPr>
          <p:cNvPr id="247" name="reject_0"/>
          <p:cNvSpPr/>
          <p:nvPr/>
        </p:nvSpPr>
        <p:spPr>
          <a:xfrm>
            <a:off x="6309360" y="3918585"/>
            <a:ext cx="0" cy="411480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</a:ln>
        </p:spPr>
      </p:sp>
      <p:sp>
        <p:nvSpPr>
          <p:cNvPr id="248" name="reject_1"/>
          <p:cNvSpPr/>
          <p:nvPr/>
        </p:nvSpPr>
        <p:spPr>
          <a:xfrm>
            <a:off x="2880360" y="4330065"/>
            <a:ext cx="3429000" cy="0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</a:ln>
        </p:spPr>
      </p:sp>
      <p:sp>
        <p:nvSpPr>
          <p:cNvPr id="249" name="reject_2"/>
          <p:cNvSpPr/>
          <p:nvPr/>
        </p:nvSpPr>
        <p:spPr>
          <a:xfrm>
            <a:off x="2880360" y="3781425"/>
            <a:ext cx="0" cy="548640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  <a:headEnd type="triangle"/>
          </a:ln>
        </p:spPr>
      </p:sp>
      <p:sp>
        <p:nvSpPr>
          <p:cNvPr id="250" name="reject_label"/>
          <p:cNvSpPr/>
          <p:nvPr/>
        </p:nvSpPr>
        <p:spPr>
          <a:xfrm>
            <a:off x="2011680" y="4384929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拒绝：非法转移或预算不足 → 整体回滚，退回合法动作集</a:t>
            </a:r>
            <a:endParaRPr lang="en-US" sz="1150" dirty="0"/>
          </a:p>
        </p:txBody>
      </p:sp>
      <p:sp>
        <p:nvSpPr>
          <p:cNvPr id="251" name="ledger"/>
          <p:cNvSpPr/>
          <p:nvPr/>
        </p:nvSpPr>
        <p:spPr>
          <a:xfrm>
            <a:off x="7818120" y="4330065"/>
            <a:ext cx="1874520" cy="621792"/>
          </a:xfrm>
          <a:prstGeom prst="can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52" name="ledger_t"/>
          <p:cNvSpPr/>
          <p:nvPr/>
        </p:nvSpPr>
        <p:spPr>
          <a:xfrm>
            <a:off x="7818120" y="4384929"/>
            <a:ext cx="1874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预算账本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先预留、后结算</a:t>
            </a:r>
            <a:endParaRPr lang="en-US" sz="1050" dirty="0"/>
          </a:p>
        </p:txBody>
      </p:sp>
      <p:sp>
        <p:nvSpPr>
          <p:cNvPr id="253" name="chain"/>
          <p:cNvSpPr/>
          <p:nvPr/>
        </p:nvSpPr>
        <p:spPr>
          <a:xfrm>
            <a:off x="9857232" y="4330065"/>
            <a:ext cx="1874520" cy="621792"/>
          </a:xfrm>
          <a:prstGeom prst="can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54" name="chain_t"/>
          <p:cNvSpPr/>
          <p:nvPr/>
        </p:nvSpPr>
        <p:spPr>
          <a:xfrm>
            <a:off x="9857232" y="4384929"/>
            <a:ext cx="1874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事件哈希链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提议 · 裁决 · 回执</a:t>
            </a:r>
            <a:endParaRPr lang="en-US" sz="1050" dirty="0"/>
          </a:p>
        </p:txBody>
      </p:sp>
      <p:sp>
        <p:nvSpPr>
          <p:cNvPr id="255" name="rec_tie_0"/>
          <p:cNvSpPr/>
          <p:nvPr/>
        </p:nvSpPr>
        <p:spPr>
          <a:xfrm>
            <a:off x="7132320" y="3918585"/>
            <a:ext cx="0" cy="1188720"/>
          </a:xfrm>
          <a:prstGeom prst="line">
            <a:avLst/>
          </a:prstGeom>
          <a:noFill/>
          <a:ln w="12700">
            <a:solidFill>
              <a:srgbClr val="52636A"/>
            </a:solidFill>
            <a:prstDash val="dash"/>
          </a:ln>
        </p:spPr>
      </p:sp>
      <p:sp>
        <p:nvSpPr>
          <p:cNvPr id="256" name="rec_tie_1"/>
          <p:cNvSpPr/>
          <p:nvPr/>
        </p:nvSpPr>
        <p:spPr>
          <a:xfrm>
            <a:off x="7132320" y="5107305"/>
            <a:ext cx="3657600" cy="0"/>
          </a:xfrm>
          <a:prstGeom prst="line">
            <a:avLst/>
          </a:prstGeom>
          <a:noFill/>
          <a:ln w="12700">
            <a:solidFill>
              <a:srgbClr val="52636A"/>
            </a:solidFill>
            <a:prstDash val="dash"/>
          </a:ln>
        </p:spPr>
      </p:sp>
      <p:sp>
        <p:nvSpPr>
          <p:cNvPr id="257" name="rec_tie_l"/>
          <p:cNvSpPr/>
          <p:nvPr/>
        </p:nvSpPr>
        <p:spPr>
          <a:xfrm>
            <a:off x="8755380" y="4951857"/>
            <a:ext cx="0" cy="155448"/>
          </a:xfrm>
          <a:prstGeom prst="line">
            <a:avLst/>
          </a:prstGeom>
          <a:noFill/>
          <a:ln w="12700">
            <a:solidFill>
              <a:srgbClr val="52636A"/>
            </a:solidFill>
            <a:prstDash val="dash"/>
          </a:ln>
        </p:spPr>
      </p:sp>
      <p:sp>
        <p:nvSpPr>
          <p:cNvPr id="258" name="rec_tie_c"/>
          <p:cNvSpPr/>
          <p:nvPr/>
        </p:nvSpPr>
        <p:spPr>
          <a:xfrm>
            <a:off x="10789920" y="4951857"/>
            <a:ext cx="0" cy="155448"/>
          </a:xfrm>
          <a:prstGeom prst="line">
            <a:avLst/>
          </a:prstGeom>
          <a:noFill/>
          <a:ln w="12700">
            <a:solidFill>
              <a:srgbClr val="52636A"/>
            </a:solidFill>
            <a:prstDash val="dash"/>
          </a:ln>
        </p:spPr>
      </p:sp>
      <p:sp>
        <p:nvSpPr>
          <p:cNvPr id="259" name="rec_note"/>
          <p:cNvSpPr/>
          <p:nvPr/>
        </p:nvSpPr>
        <p:spPr>
          <a:xfrm>
            <a:off x="5703570" y="4878705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内核记录</a:t>
            </a:r>
            <a:endParaRPr lang="en-US" sz="1000" dirty="0"/>
          </a:p>
        </p:txBody>
      </p:sp>
      <p:sp>
        <p:nvSpPr>
          <p:cNvPr id="260" name="detail_rule"/>
          <p:cNvSpPr/>
          <p:nvPr/>
        </p:nvSpPr>
        <p:spPr>
          <a:xfrm>
            <a:off x="502920" y="5279517"/>
            <a:ext cx="1122883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261" name="detail_a_head"/>
          <p:cNvSpPr/>
          <p:nvPr/>
        </p:nvSpPr>
        <p:spPr>
          <a:xfrm>
            <a:off x="502920" y="5495544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模型中立的策略接入（拟）</a:t>
            </a:r>
            <a:endParaRPr lang="en-US" sz="1200" dirty="0"/>
          </a:p>
        </p:txBody>
      </p:sp>
      <p:sp>
        <p:nvSpPr>
          <p:cNvPr id="262" name="detail_a_body"/>
          <p:cNvSpPr/>
          <p:nvPr/>
        </p:nvSpPr>
        <p:spPr>
          <a:xfrm>
            <a:off x="502920" y="5806440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harness 只交回提案，不持写入权、不能自报结果；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 key 时退回确定性证据策略</a:t>
            </a:r>
            <a:endParaRPr lang="en-US" sz="1100" dirty="0"/>
          </a:p>
        </p:txBody>
      </p:sp>
      <p:sp>
        <p:nvSpPr>
          <p:cNvPr id="263" name="detail_b_head"/>
          <p:cNvSpPr/>
          <p:nvPr/>
        </p:nvSpPr>
        <p:spPr>
          <a:xfrm>
            <a:off x="4337304" y="5495544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内核裁决（拟）</a:t>
            </a:r>
            <a:endParaRPr lang="en-US" sz="1200" dirty="0"/>
          </a:p>
        </p:txBody>
      </p:sp>
      <p:sp>
        <p:nvSpPr>
          <p:cNvPr id="264" name="detail_b_body"/>
          <p:cNvSpPr/>
          <p:nvPr/>
        </p:nvSpPr>
        <p:spPr>
          <a:xfrm>
            <a:off x="4337304" y="5806440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模型只从内核给出的合法假设与动作中选择；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JSON 经契约校验，不解析 stdout</a:t>
            </a:r>
            <a:endParaRPr lang="en-US" sz="1100" dirty="0"/>
          </a:p>
        </p:txBody>
      </p:sp>
      <p:sp>
        <p:nvSpPr>
          <p:cNvPr id="265" name="detail_c_head"/>
          <p:cNvSpPr/>
          <p:nvPr/>
        </p:nvSpPr>
        <p:spPr>
          <a:xfrm>
            <a:off x="8171688" y="5495544"/>
            <a:ext cx="3560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  受控工具与独立评估（拟）</a:t>
            </a:r>
            <a:endParaRPr lang="en-US" sz="1200" dirty="0"/>
          </a:p>
        </p:txBody>
      </p:sp>
      <p:sp>
        <p:nvSpPr>
          <p:cNvPr id="266" name="detail_c_body"/>
          <p:cNvSpPr/>
          <p:nvPr/>
        </p:nvSpPr>
        <p:spPr>
          <a:xfrm>
            <a:off x="8171688" y="5806440"/>
            <a:ext cx="356006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工具经登记与 function-calling 在沙箱中调用；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分数只由独立评估器重算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29159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· 研究方法与检验标准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2" name="Text 9"/>
          <p:cNvSpPr/>
          <p:nvPr/>
        </p:nvSpPr>
        <p:spPr>
          <a:xfrm>
            <a:off x="713232" y="914400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研究方法：每种手段都对应可检验的标准</a:t>
            </a:r>
            <a:endParaRPr lang="en-US" sz="1900" dirty="0"/>
          </a:p>
        </p:txBody>
      </p:sp>
      <p:sp>
        <p:nvSpPr>
          <p:cNvPr id="200" name="row_0"/>
          <p:cNvSpPr/>
          <p:nvPr/>
        </p:nvSpPr>
        <p:spPr>
          <a:xfrm>
            <a:off x="502920" y="2590038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手段</a:t>
            </a:r>
            <a:endParaRPr lang="en-US" sz="1400" dirty="0"/>
          </a:p>
        </p:txBody>
      </p:sp>
      <p:sp>
        <p:nvSpPr>
          <p:cNvPr id="201" name="row_1"/>
          <p:cNvSpPr/>
          <p:nvPr/>
        </p:nvSpPr>
        <p:spPr>
          <a:xfrm>
            <a:off x="502920" y="3559683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用于</a:t>
            </a:r>
            <a:endParaRPr lang="en-US" sz="1400" dirty="0"/>
          </a:p>
        </p:txBody>
      </p:sp>
      <p:sp>
        <p:nvSpPr>
          <p:cNvPr id="202" name="row_2"/>
          <p:cNvSpPr/>
          <p:nvPr/>
        </p:nvSpPr>
        <p:spPr>
          <a:xfrm>
            <a:off x="502920" y="4291965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检验</a:t>
            </a:r>
            <a:endParaRPr lang="en-US" sz="1400" dirty="0"/>
          </a:p>
        </p:txBody>
      </p:sp>
      <p:sp>
        <p:nvSpPr>
          <p:cNvPr id="203" name="m0"/>
          <p:cNvSpPr/>
          <p:nvPr/>
        </p:nvSpPr>
        <p:spPr>
          <a:xfrm>
            <a:off x="1371600" y="2297430"/>
            <a:ext cx="2172614" cy="914400"/>
          </a:xfrm>
          <a:prstGeom prst="rect">
            <a:avLst/>
          </a:prstGeom>
          <a:solidFill>
            <a:srgbClr val="F2F5F6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04" name="m0_label"/>
          <p:cNvSpPr/>
          <p:nvPr/>
        </p:nvSpPr>
        <p:spPr>
          <a:xfrm>
            <a:off x="1371600" y="2425446"/>
            <a:ext cx="217261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文献调研与对比分析</a:t>
            </a:r>
            <a:endParaRPr lang="en-US" sz="1400" dirty="0"/>
          </a:p>
        </p:txBody>
      </p:sp>
      <p:sp>
        <p:nvSpPr>
          <p:cNvPr id="205" name="m0_sub"/>
          <p:cNvSpPr/>
          <p:nvPr/>
        </p:nvSpPr>
        <p:spPr>
          <a:xfrm>
            <a:off x="1371600" y="2772918"/>
            <a:ext cx="217261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提炼现有系统的不足</a:t>
            </a:r>
            <a:endParaRPr lang="en-US" sz="1150" dirty="0"/>
          </a:p>
        </p:txBody>
      </p:sp>
      <p:sp>
        <p:nvSpPr>
          <p:cNvPr id="206" name="m0_next"/>
          <p:cNvSpPr/>
          <p:nvPr/>
        </p:nvSpPr>
        <p:spPr>
          <a:xfrm>
            <a:off x="3544214" y="2754630"/>
            <a:ext cx="36576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07" name="m0_use"/>
          <p:cNvSpPr/>
          <p:nvPr/>
        </p:nvSpPr>
        <p:spPr>
          <a:xfrm>
            <a:off x="1600200" y="3568827"/>
            <a:ext cx="1715414" cy="31089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08" name="m0_use_t"/>
          <p:cNvSpPr/>
          <p:nvPr/>
        </p:nvSpPr>
        <p:spPr>
          <a:xfrm>
            <a:off x="1600200" y="3568827"/>
            <a:ext cx="171541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任务一 · 任务二</a:t>
            </a:r>
            <a:endParaRPr lang="en-US" sz="1150" dirty="0"/>
          </a:p>
        </p:txBody>
      </p:sp>
      <p:sp>
        <p:nvSpPr>
          <p:cNvPr id="209" name="m0_chk"/>
          <p:cNvSpPr/>
          <p:nvPr/>
        </p:nvSpPr>
        <p:spPr>
          <a:xfrm>
            <a:off x="1371600" y="4320540"/>
            <a:ext cx="2172614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归纳出两类不足，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并逐条对应到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本课题的设计需求</a:t>
            </a:r>
            <a:endParaRPr lang="en-US" sz="1150" dirty="0"/>
          </a:p>
        </p:txBody>
      </p:sp>
      <p:sp>
        <p:nvSpPr>
          <p:cNvPr id="210" name="m1"/>
          <p:cNvSpPr/>
          <p:nvPr/>
        </p:nvSpPr>
        <p:spPr>
          <a:xfrm>
            <a:off x="3909974" y="2297430"/>
            <a:ext cx="217261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11" name="m1_label"/>
          <p:cNvSpPr/>
          <p:nvPr/>
        </p:nvSpPr>
        <p:spPr>
          <a:xfrm>
            <a:off x="3909974" y="2425446"/>
            <a:ext cx="217261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模块化设计与原型实现</a:t>
            </a:r>
            <a:endParaRPr lang="en-US" sz="1400" dirty="0"/>
          </a:p>
        </p:txBody>
      </p:sp>
      <p:sp>
        <p:nvSpPr>
          <p:cNvPr id="212" name="m1_sub"/>
          <p:cNvSpPr/>
          <p:nvPr/>
        </p:nvSpPr>
        <p:spPr>
          <a:xfrm>
            <a:off x="3909974" y="2772918"/>
            <a:ext cx="217261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接口契约（Pydantic）</a:t>
            </a:r>
            <a:endParaRPr lang="en-US" sz="1150" dirty="0"/>
          </a:p>
        </p:txBody>
      </p:sp>
      <p:sp>
        <p:nvSpPr>
          <p:cNvPr id="213" name="m1_next"/>
          <p:cNvSpPr/>
          <p:nvPr/>
        </p:nvSpPr>
        <p:spPr>
          <a:xfrm>
            <a:off x="6082589" y="2754630"/>
            <a:ext cx="365760" cy="0"/>
          </a:xfrm>
          <a:prstGeom prst="line">
            <a:avLst/>
          </a:prstGeom>
          <a:noFill/>
          <a:ln w="22225">
            <a:solidFill>
              <a:srgbClr val="26363D"/>
            </a:solidFill>
            <a:prstDash val="solid"/>
            <a:tailEnd type="triangle"/>
          </a:ln>
        </p:spPr>
      </p:sp>
      <p:sp>
        <p:nvSpPr>
          <p:cNvPr id="214" name="m1_use"/>
          <p:cNvSpPr/>
          <p:nvPr/>
        </p:nvSpPr>
        <p:spPr>
          <a:xfrm>
            <a:off x="4138574" y="3568827"/>
            <a:ext cx="1715414" cy="31089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15" name="m1_use_t"/>
          <p:cNvSpPr/>
          <p:nvPr/>
        </p:nvSpPr>
        <p:spPr>
          <a:xfrm>
            <a:off x="4138574" y="3568827"/>
            <a:ext cx="171541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任务一 — 任务四</a:t>
            </a:r>
            <a:endParaRPr lang="en-US" sz="1150" dirty="0"/>
          </a:p>
        </p:txBody>
      </p:sp>
      <p:sp>
        <p:nvSpPr>
          <p:cNvPr id="216" name="m1_chk"/>
          <p:cNvSpPr/>
          <p:nvPr/>
        </p:nvSpPr>
        <p:spPr>
          <a:xfrm>
            <a:off x="3909974" y="4320540"/>
            <a:ext cx="2172614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模块接口契约可被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自动校验，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不合契约的输入被拒</a:t>
            </a:r>
            <a:endParaRPr lang="en-US" sz="1150" dirty="0"/>
          </a:p>
        </p:txBody>
      </p:sp>
      <p:sp>
        <p:nvSpPr>
          <p:cNvPr id="217" name="m2"/>
          <p:cNvSpPr/>
          <p:nvPr/>
        </p:nvSpPr>
        <p:spPr>
          <a:xfrm>
            <a:off x="6448349" y="2297430"/>
            <a:ext cx="217261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363D"/>
            </a:solidFill>
            <a:prstDash val="solid"/>
          </a:ln>
        </p:spPr>
      </p:sp>
      <p:sp>
        <p:nvSpPr>
          <p:cNvPr id="218" name="m2_label"/>
          <p:cNvSpPr/>
          <p:nvPr/>
        </p:nvSpPr>
        <p:spPr>
          <a:xfrm>
            <a:off x="6448349" y="2425446"/>
            <a:ext cx="217261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故障注入</a:t>
            </a:r>
            <a:endParaRPr lang="en-US" sz="1400" dirty="0"/>
          </a:p>
        </p:txBody>
      </p:sp>
      <p:sp>
        <p:nvSpPr>
          <p:cNvPr id="219" name="m2_sub"/>
          <p:cNvSpPr/>
          <p:nvPr/>
        </p:nvSpPr>
        <p:spPr>
          <a:xfrm>
            <a:off x="6448349" y="2772918"/>
            <a:ext cx="217261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工程验证</a:t>
            </a:r>
            <a:endParaRPr lang="en-US" sz="1150" dirty="0"/>
          </a:p>
        </p:txBody>
      </p:sp>
      <p:sp>
        <p:nvSpPr>
          <p:cNvPr id="220" name="m2_next"/>
          <p:cNvSpPr/>
          <p:nvPr/>
        </p:nvSpPr>
        <p:spPr>
          <a:xfrm>
            <a:off x="8620963" y="2754630"/>
            <a:ext cx="365760" cy="0"/>
          </a:xfrm>
          <a:prstGeom prst="line">
            <a:avLst/>
          </a:prstGeom>
          <a:noFill/>
          <a:ln w="22225">
            <a:solidFill>
              <a:srgbClr val="1E4FA8"/>
            </a:solidFill>
            <a:prstDash val="solid"/>
            <a:tailEnd type="triangle"/>
          </a:ln>
        </p:spPr>
      </p:sp>
      <p:sp>
        <p:nvSpPr>
          <p:cNvPr id="221" name="m2_use"/>
          <p:cNvSpPr/>
          <p:nvPr/>
        </p:nvSpPr>
        <p:spPr>
          <a:xfrm>
            <a:off x="6676949" y="3568827"/>
            <a:ext cx="1715414" cy="31089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22" name="m2_use_t"/>
          <p:cNvSpPr/>
          <p:nvPr/>
        </p:nvSpPr>
        <p:spPr>
          <a:xfrm>
            <a:off x="6676949" y="3568827"/>
            <a:ext cx="171541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任务二 · 三 · 四</a:t>
            </a:r>
            <a:endParaRPr lang="en-US" sz="1150" dirty="0"/>
          </a:p>
        </p:txBody>
      </p:sp>
      <p:sp>
        <p:nvSpPr>
          <p:cNvPr id="223" name="m2_chk"/>
          <p:cNvSpPr/>
          <p:nvPr/>
        </p:nvSpPr>
        <p:spPr>
          <a:xfrm>
            <a:off x="6448349" y="4320540"/>
            <a:ext cx="2172614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非法转移被拒、无半成品；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重复提交幂等、崩溃可恢复；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篡改事件链能被检出</a:t>
            </a:r>
            <a:endParaRPr lang="en-US" sz="1150" dirty="0"/>
          </a:p>
        </p:txBody>
      </p:sp>
      <p:sp>
        <p:nvSpPr>
          <p:cNvPr id="224" name="m3"/>
          <p:cNvSpPr/>
          <p:nvPr/>
        </p:nvSpPr>
        <p:spPr>
          <a:xfrm>
            <a:off x="8986723" y="206883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25" name="m3_title"/>
          <p:cNvSpPr/>
          <p:nvPr/>
        </p:nvSpPr>
        <p:spPr>
          <a:xfrm>
            <a:off x="8986723" y="2132838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冻结协议实验</a:t>
            </a:r>
            <a:endParaRPr lang="en-US" sz="1500" dirty="0"/>
          </a:p>
        </p:txBody>
      </p:sp>
      <p:sp>
        <p:nvSpPr>
          <p:cNvPr id="226" name="m3_s1"/>
          <p:cNvSpPr/>
          <p:nvPr/>
        </p:nvSpPr>
        <p:spPr>
          <a:xfrm>
            <a:off x="9078163" y="2571750"/>
            <a:ext cx="2560320" cy="31089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7" name="m3_s1_t"/>
          <p:cNvSpPr/>
          <p:nvPr/>
        </p:nvSpPr>
        <p:spPr>
          <a:xfrm>
            <a:off x="9078163" y="2571750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预先登记阈值</a:t>
            </a:r>
            <a:endParaRPr lang="en-US" sz="1150" dirty="0"/>
          </a:p>
        </p:txBody>
      </p:sp>
      <p:sp>
        <p:nvSpPr>
          <p:cNvPr id="228" name="m3_s2"/>
          <p:cNvSpPr/>
          <p:nvPr/>
        </p:nvSpPr>
        <p:spPr>
          <a:xfrm>
            <a:off x="9078163" y="2964942"/>
            <a:ext cx="2560320" cy="31089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9" name="m3_s2_t"/>
          <p:cNvSpPr/>
          <p:nvPr/>
        </p:nvSpPr>
        <p:spPr>
          <a:xfrm>
            <a:off x="9078163" y="2964942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区间判断：支持 / 反驳 / 证据不足</a:t>
            </a:r>
            <a:endParaRPr lang="en-US" sz="1150" dirty="0"/>
          </a:p>
        </p:txBody>
      </p:sp>
      <p:sp>
        <p:nvSpPr>
          <p:cNvPr id="230" name="tag_a"/>
          <p:cNvSpPr/>
          <p:nvPr/>
        </p:nvSpPr>
        <p:spPr>
          <a:xfrm>
            <a:off x="11475720" y="1736979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231" name="m3_use"/>
          <p:cNvSpPr/>
          <p:nvPr/>
        </p:nvSpPr>
        <p:spPr>
          <a:xfrm>
            <a:off x="9215323" y="3571494"/>
            <a:ext cx="2286000" cy="310896"/>
          </a:xfrm>
          <a:prstGeom prst="roundRect">
            <a:avLst>
              <a:gd name="adj" fmla="val 25000"/>
            </a:avLst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32" name="m3_use_t"/>
          <p:cNvSpPr/>
          <p:nvPr/>
        </p:nvSpPr>
        <p:spPr>
          <a:xfrm>
            <a:off x="9215323" y="3571494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任务三 · 任务四</a:t>
            </a:r>
            <a:endParaRPr lang="en-US" sz="1150" dirty="0"/>
          </a:p>
        </p:txBody>
      </p:sp>
      <p:sp>
        <p:nvSpPr>
          <p:cNvPr id="233" name="m3_chk"/>
          <p:cNvSpPr/>
          <p:nvPr/>
        </p:nvSpPr>
        <p:spPr>
          <a:xfrm>
            <a:off x="8986723" y="4295775"/>
            <a:ext cx="27432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在数值计算、公开数据分析、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机制比较三类任务上比较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竞争解释（科研验证）</a:t>
            </a:r>
            <a:endParaRPr lang="en-US" sz="1150" dirty="0"/>
          </a:p>
        </p:txBody>
      </p:sp>
      <p:sp>
        <p:nvSpPr>
          <p:cNvPr id="234" name="tag_b"/>
          <p:cNvSpPr/>
          <p:nvPr/>
        </p:nvSpPr>
        <p:spPr>
          <a:xfrm>
            <a:off x="11475720" y="4219575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150" dirty="0"/>
          </a:p>
        </p:txBody>
      </p:sp>
      <p:sp>
        <p:nvSpPr>
          <p:cNvPr id="235" name="chk_rule"/>
          <p:cNvSpPr/>
          <p:nvPr/>
        </p:nvSpPr>
        <p:spPr>
          <a:xfrm>
            <a:off x="502920" y="4086225"/>
            <a:ext cx="811987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236" name="fail_loop_0"/>
          <p:cNvSpPr/>
          <p:nvPr/>
        </p:nvSpPr>
        <p:spPr>
          <a:xfrm>
            <a:off x="7534656" y="2041398"/>
            <a:ext cx="0" cy="256032"/>
          </a:xfrm>
          <a:prstGeom prst="line">
            <a:avLst/>
          </a:prstGeom>
          <a:noFill/>
          <a:ln w="19050">
            <a:solidFill>
              <a:srgbClr val="9B4D32"/>
            </a:solidFill>
            <a:prstDash val="solid"/>
          </a:ln>
        </p:spPr>
      </p:sp>
      <p:sp>
        <p:nvSpPr>
          <p:cNvPr id="237" name="fail_loop_1"/>
          <p:cNvSpPr/>
          <p:nvPr/>
        </p:nvSpPr>
        <p:spPr>
          <a:xfrm>
            <a:off x="4996282" y="2041398"/>
            <a:ext cx="2538374" cy="0"/>
          </a:xfrm>
          <a:prstGeom prst="line">
            <a:avLst/>
          </a:prstGeom>
          <a:noFill/>
          <a:ln w="19050">
            <a:solidFill>
              <a:srgbClr val="9B4D32"/>
            </a:solidFill>
            <a:prstDash val="solid"/>
          </a:ln>
        </p:spPr>
      </p:sp>
      <p:sp>
        <p:nvSpPr>
          <p:cNvPr id="238" name="fail_loop_2"/>
          <p:cNvSpPr/>
          <p:nvPr/>
        </p:nvSpPr>
        <p:spPr>
          <a:xfrm>
            <a:off x="4996282" y="2041398"/>
            <a:ext cx="0" cy="256032"/>
          </a:xfrm>
          <a:prstGeom prst="line">
            <a:avLst/>
          </a:prstGeom>
          <a:noFill/>
          <a:ln w="19050">
            <a:solidFill>
              <a:srgbClr val="9B4D32"/>
            </a:solidFill>
            <a:prstDash val="solid"/>
            <a:tailEnd type="triangle"/>
          </a:ln>
        </p:spPr>
      </p:sp>
      <p:sp>
        <p:nvSpPr>
          <p:cNvPr id="239" name="fail_loop_t"/>
          <p:cNvSpPr/>
          <p:nvPr/>
        </p:nvSpPr>
        <p:spPr>
          <a:xfrm>
            <a:off x="5120640" y="168935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未通过 → 返回修改设计</a:t>
            </a:r>
            <a:endParaRPr lang="en-US" sz="1150" dirty="0"/>
          </a:p>
        </p:txBody>
      </p:sp>
      <p:sp>
        <p:nvSpPr>
          <p:cNvPr id="240" name="detail_rule"/>
          <p:cNvSpPr/>
          <p:nvPr/>
        </p:nvSpPr>
        <p:spPr>
          <a:xfrm>
            <a:off x="502920" y="5113020"/>
            <a:ext cx="11228832" cy="0"/>
          </a:xfrm>
          <a:prstGeom prst="line">
            <a:avLst/>
          </a:prstGeom>
          <a:noFill/>
          <a:ln w="9525">
            <a:solidFill>
              <a:srgbClr val="A6B4B9"/>
            </a:solidFill>
            <a:prstDash val="solid"/>
          </a:ln>
        </p:spPr>
      </p:sp>
      <p:sp>
        <p:nvSpPr>
          <p:cNvPr id="241" name="detail_a_head"/>
          <p:cNvSpPr/>
          <p:nvPr/>
        </p:nvSpPr>
        <p:spPr>
          <a:xfrm>
            <a:off x="502920" y="5386197"/>
            <a:ext cx="54772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冻结协议（拟）</a:t>
            </a:r>
            <a:endParaRPr lang="en-US" sz="1200" dirty="0"/>
          </a:p>
        </p:txBody>
      </p:sp>
      <p:sp>
        <p:nvSpPr>
          <p:cNvPr id="242" name="detail_a_body"/>
          <p:cNvSpPr/>
          <p:nvPr/>
        </p:nvSpPr>
        <p:spPr>
          <a:xfrm>
            <a:off x="502920" y="5725668"/>
            <a:ext cx="547725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实验前登记数据角色、评分代码与阈值；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确认数据只打开一次</a:t>
            </a:r>
            <a:endParaRPr lang="en-US" sz="1100" dirty="0"/>
          </a:p>
        </p:txBody>
      </p:sp>
      <p:sp>
        <p:nvSpPr>
          <p:cNvPr id="243" name="detail_b_head"/>
          <p:cNvSpPr/>
          <p:nvPr/>
        </p:nvSpPr>
        <p:spPr>
          <a:xfrm>
            <a:off x="6254496" y="5386197"/>
            <a:ext cx="547725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 判断规则与对照</a:t>
            </a:r>
            <a:endParaRPr lang="en-US" sz="1200" dirty="0"/>
          </a:p>
        </p:txBody>
      </p:sp>
      <p:sp>
        <p:nvSpPr>
          <p:cNvPr id="244" name="detail_b_body"/>
          <p:cNvSpPr/>
          <p:nvPr/>
        </p:nvSpPr>
        <p:spPr>
          <a:xfrm>
            <a:off x="6254496" y="5725668"/>
            <a:ext cx="547725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效应区间对照预注册阈值给出判断，执行未完成记为未评估；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若设对照智能体（不受内核约束），只比较协议遵守与证据绑定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29159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· 进度安排与预期成果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295" cy="566928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>
            <a:off x="457200" y="914400"/>
            <a:ext cx="91440" cy="56692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2" name="Text 9"/>
          <p:cNvSpPr/>
          <p:nvPr/>
        </p:nvSpPr>
        <p:spPr>
          <a:xfrm>
            <a:off x="713232" y="942975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进度安排与预期成果：第8周开题，按七个阶段推进</a:t>
            </a:r>
            <a:endParaRPr lang="en-US" sz="1900" dirty="0"/>
          </a:p>
        </p:txBody>
      </p:sp>
      <p:sp>
        <p:nvSpPr>
          <p:cNvPr id="200" name="winter"/>
          <p:cNvSpPr/>
          <p:nvPr/>
        </p:nvSpPr>
        <p:spPr>
          <a:xfrm>
            <a:off x="7442759" y="1645920"/>
            <a:ext cx="457200" cy="3182112"/>
          </a:xfrm>
          <a:prstGeom prst="rect">
            <a:avLst/>
          </a:prstGeom>
          <a:solidFill>
            <a:srgbClr val="F2F5F6"/>
          </a:solidFill>
        </p:spPr>
      </p:sp>
      <p:sp>
        <p:nvSpPr>
          <p:cNvPr id="201" name="winter_t"/>
          <p:cNvSpPr/>
          <p:nvPr/>
        </p:nvSpPr>
        <p:spPr>
          <a:xfrm>
            <a:off x="7442759" y="310896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寒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假</a:t>
            </a:r>
            <a:endParaRPr lang="en-US" sz="1050" dirty="0"/>
          </a:p>
        </p:txBody>
      </p:sp>
      <p:sp>
        <p:nvSpPr>
          <p:cNvPr id="202" name="sem_fall"/>
          <p:cNvSpPr/>
          <p:nvPr/>
        </p:nvSpPr>
        <p:spPr>
          <a:xfrm>
            <a:off x="3611880" y="1645920"/>
            <a:ext cx="3830879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 秋季学期（2026.09—2027.01）</a:t>
            </a:r>
            <a:endParaRPr lang="en-US" sz="1150" dirty="0"/>
          </a:p>
        </p:txBody>
      </p:sp>
      <p:sp>
        <p:nvSpPr>
          <p:cNvPr id="203" name="sem_spring"/>
          <p:cNvSpPr/>
          <p:nvPr/>
        </p:nvSpPr>
        <p:spPr>
          <a:xfrm>
            <a:off x="7899959" y="1645920"/>
            <a:ext cx="3830879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2027 春季学期（2027.03—2027.07）</a:t>
            </a:r>
            <a:endParaRPr lang="en-US" sz="1150" dirty="0"/>
          </a:p>
        </p:txBody>
      </p:sp>
      <p:sp>
        <p:nvSpPr>
          <p:cNvPr id="204" name="wf_1"/>
          <p:cNvSpPr/>
          <p:nvPr/>
        </p:nvSpPr>
        <p:spPr>
          <a:xfrm>
            <a:off x="3520440" y="1947672"/>
            <a:ext cx="38450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205" name="ws_1"/>
          <p:cNvSpPr/>
          <p:nvPr/>
        </p:nvSpPr>
        <p:spPr>
          <a:xfrm>
            <a:off x="7808519" y="1947672"/>
            <a:ext cx="38450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206" name="wf_5"/>
          <p:cNvSpPr/>
          <p:nvPr/>
        </p:nvSpPr>
        <p:spPr>
          <a:xfrm>
            <a:off x="4326941" y="1947672"/>
            <a:ext cx="38450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207" name="ws_5"/>
          <p:cNvSpPr/>
          <p:nvPr/>
        </p:nvSpPr>
        <p:spPr>
          <a:xfrm>
            <a:off x="8615020" y="1947672"/>
            <a:ext cx="38450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208" name="wf_10"/>
          <p:cNvSpPr/>
          <p:nvPr/>
        </p:nvSpPr>
        <p:spPr>
          <a:xfrm>
            <a:off x="5335067" y="1947672"/>
            <a:ext cx="38450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000" dirty="0"/>
          </a:p>
        </p:txBody>
      </p:sp>
      <p:sp>
        <p:nvSpPr>
          <p:cNvPr id="209" name="ws_10"/>
          <p:cNvSpPr/>
          <p:nvPr/>
        </p:nvSpPr>
        <p:spPr>
          <a:xfrm>
            <a:off x="9623146" y="1947672"/>
            <a:ext cx="38450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000" dirty="0"/>
          </a:p>
        </p:txBody>
      </p:sp>
      <p:sp>
        <p:nvSpPr>
          <p:cNvPr id="210" name="wf_15"/>
          <p:cNvSpPr/>
          <p:nvPr/>
        </p:nvSpPr>
        <p:spPr>
          <a:xfrm>
            <a:off x="6343193" y="1947672"/>
            <a:ext cx="38450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000" dirty="0"/>
          </a:p>
        </p:txBody>
      </p:sp>
      <p:sp>
        <p:nvSpPr>
          <p:cNvPr id="211" name="ws_15"/>
          <p:cNvSpPr/>
          <p:nvPr/>
        </p:nvSpPr>
        <p:spPr>
          <a:xfrm>
            <a:off x="10631272" y="1947672"/>
            <a:ext cx="38450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000" dirty="0"/>
          </a:p>
        </p:txBody>
      </p:sp>
      <p:sp>
        <p:nvSpPr>
          <p:cNvPr id="212" name="wf_19"/>
          <p:cNvSpPr/>
          <p:nvPr/>
        </p:nvSpPr>
        <p:spPr>
          <a:xfrm>
            <a:off x="7149694" y="1947672"/>
            <a:ext cx="38450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1000" dirty="0"/>
          </a:p>
        </p:txBody>
      </p:sp>
      <p:sp>
        <p:nvSpPr>
          <p:cNvPr id="213" name="ws_19"/>
          <p:cNvSpPr/>
          <p:nvPr/>
        </p:nvSpPr>
        <p:spPr>
          <a:xfrm>
            <a:off x="11437772" y="1947672"/>
            <a:ext cx="38450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1000" dirty="0"/>
          </a:p>
        </p:txBody>
      </p:sp>
      <p:sp>
        <p:nvSpPr>
          <p:cNvPr id="214" name="week_k"/>
          <p:cNvSpPr/>
          <p:nvPr/>
        </p:nvSpPr>
        <p:spPr>
          <a:xfrm>
            <a:off x="2697480" y="1947672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0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教学周</a:t>
            </a:r>
            <a:endParaRPr lang="en-US" sz="1000" dirty="0"/>
          </a:p>
        </p:txBody>
      </p:sp>
      <p:sp>
        <p:nvSpPr>
          <p:cNvPr id="215" name="row_rule_top_f"/>
          <p:cNvSpPr/>
          <p:nvPr/>
        </p:nvSpPr>
        <p:spPr>
          <a:xfrm>
            <a:off x="502920" y="2267712"/>
            <a:ext cx="6939839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16" name="row_rule_top_s"/>
          <p:cNvSpPr/>
          <p:nvPr/>
        </p:nvSpPr>
        <p:spPr>
          <a:xfrm>
            <a:off x="7899959" y="2267712"/>
            <a:ext cx="3831793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17" name="st_0"/>
          <p:cNvSpPr/>
          <p:nvPr/>
        </p:nvSpPr>
        <p:spPr>
          <a:xfrm>
            <a:off x="502920" y="226771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选题与开题</a:t>
            </a:r>
            <a:endParaRPr lang="en-US" sz="1150" dirty="0"/>
          </a:p>
        </p:txBody>
      </p:sp>
      <p:sp>
        <p:nvSpPr>
          <p:cNvPr id="218" name="st_0_w"/>
          <p:cNvSpPr/>
          <p:nvPr/>
        </p:nvSpPr>
        <p:spPr>
          <a:xfrm>
            <a:off x="2697480" y="226771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第2—8周</a:t>
            </a:r>
            <a:endParaRPr lang="en-US" sz="1050" dirty="0"/>
          </a:p>
        </p:txBody>
      </p:sp>
      <p:sp>
        <p:nvSpPr>
          <p:cNvPr id="219" name="bar_0"/>
          <p:cNvSpPr/>
          <p:nvPr/>
        </p:nvSpPr>
        <p:spPr>
          <a:xfrm>
            <a:off x="3813505" y="2331720"/>
            <a:ext cx="1411376" cy="237744"/>
          </a:xfrm>
          <a:prstGeom prst="rect">
            <a:avLst/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20" name="bar_0_t"/>
          <p:cNvSpPr/>
          <p:nvPr/>
        </p:nvSpPr>
        <p:spPr>
          <a:xfrm>
            <a:off x="3813505" y="2331720"/>
            <a:ext cx="14113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开题</a:t>
            </a:r>
            <a:endParaRPr lang="en-US" sz="1050" dirty="0"/>
          </a:p>
        </p:txBody>
      </p:sp>
      <p:sp>
        <p:nvSpPr>
          <p:cNvPr id="221" name="row_rule_0_f"/>
          <p:cNvSpPr/>
          <p:nvPr/>
        </p:nvSpPr>
        <p:spPr>
          <a:xfrm>
            <a:off x="502920" y="2633472"/>
            <a:ext cx="6939839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22" name="row_rule_0_s"/>
          <p:cNvSpPr/>
          <p:nvPr/>
        </p:nvSpPr>
        <p:spPr>
          <a:xfrm>
            <a:off x="7899959" y="2633472"/>
            <a:ext cx="3831793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23" name="st_1"/>
          <p:cNvSpPr/>
          <p:nvPr/>
        </p:nvSpPr>
        <p:spPr>
          <a:xfrm>
            <a:off x="502920" y="263347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接口设计与登记方式</a:t>
            </a:r>
            <a:endParaRPr lang="en-US" sz="1150" dirty="0"/>
          </a:p>
        </p:txBody>
      </p:sp>
      <p:sp>
        <p:nvSpPr>
          <p:cNvPr id="224" name="st_1_w"/>
          <p:cNvSpPr/>
          <p:nvPr/>
        </p:nvSpPr>
        <p:spPr>
          <a:xfrm>
            <a:off x="2697480" y="263347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第9—13周</a:t>
            </a:r>
            <a:endParaRPr lang="en-US" sz="1050" dirty="0"/>
          </a:p>
        </p:txBody>
      </p:sp>
      <p:sp>
        <p:nvSpPr>
          <p:cNvPr id="225" name="bar_1"/>
          <p:cNvSpPr/>
          <p:nvPr/>
        </p:nvSpPr>
        <p:spPr>
          <a:xfrm>
            <a:off x="5224882" y="2697480"/>
            <a:ext cx="1008126" cy="237744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26" name="bar_1_t"/>
          <p:cNvSpPr/>
          <p:nvPr/>
        </p:nvSpPr>
        <p:spPr>
          <a:xfrm>
            <a:off x="5224882" y="2697480"/>
            <a:ext cx="100812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接口设计</a:t>
            </a:r>
            <a:endParaRPr lang="en-US" sz="1050" dirty="0"/>
          </a:p>
        </p:txBody>
      </p:sp>
      <p:sp>
        <p:nvSpPr>
          <p:cNvPr id="227" name="row_rule_1_f"/>
          <p:cNvSpPr/>
          <p:nvPr/>
        </p:nvSpPr>
        <p:spPr>
          <a:xfrm>
            <a:off x="502920" y="2999232"/>
            <a:ext cx="6939839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28" name="row_rule_1_s"/>
          <p:cNvSpPr/>
          <p:nvPr/>
        </p:nvSpPr>
        <p:spPr>
          <a:xfrm>
            <a:off x="7899959" y="2999232"/>
            <a:ext cx="3831793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29" name="st_2"/>
          <p:cNvSpPr/>
          <p:nvPr/>
        </p:nvSpPr>
        <p:spPr>
          <a:xfrm>
            <a:off x="502920" y="299923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③ 内核实现 · 完整初稿</a:t>
            </a:r>
            <a:endParaRPr lang="en-US" sz="1150" dirty="0"/>
          </a:p>
        </p:txBody>
      </p:sp>
      <p:sp>
        <p:nvSpPr>
          <p:cNvPr id="230" name="st_2_w"/>
          <p:cNvSpPr/>
          <p:nvPr/>
        </p:nvSpPr>
        <p:spPr>
          <a:xfrm>
            <a:off x="2697480" y="299923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第14—19周</a:t>
            </a:r>
            <a:endParaRPr lang="en-US" sz="1050" dirty="0"/>
          </a:p>
        </p:txBody>
      </p:sp>
      <p:sp>
        <p:nvSpPr>
          <p:cNvPr id="231" name="bar_2"/>
          <p:cNvSpPr/>
          <p:nvPr/>
        </p:nvSpPr>
        <p:spPr>
          <a:xfrm>
            <a:off x="6233008" y="3063240"/>
            <a:ext cx="1209751" cy="237744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32" name="bar_2_t"/>
          <p:cNvSpPr/>
          <p:nvPr/>
        </p:nvSpPr>
        <p:spPr>
          <a:xfrm>
            <a:off x="6233008" y="3063240"/>
            <a:ext cx="1209751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提交初稿</a:t>
            </a:r>
            <a:endParaRPr lang="en-US" sz="1050" dirty="0"/>
          </a:p>
        </p:txBody>
      </p:sp>
      <p:sp>
        <p:nvSpPr>
          <p:cNvPr id="233" name="row_rule_2_f"/>
          <p:cNvSpPr/>
          <p:nvPr/>
        </p:nvSpPr>
        <p:spPr>
          <a:xfrm>
            <a:off x="502920" y="3364992"/>
            <a:ext cx="6939839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34" name="row_rule_2_s"/>
          <p:cNvSpPr/>
          <p:nvPr/>
        </p:nvSpPr>
        <p:spPr>
          <a:xfrm>
            <a:off x="7899959" y="3364992"/>
            <a:ext cx="3831793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35" name="st_3"/>
          <p:cNvSpPr/>
          <p:nvPr/>
        </p:nvSpPr>
        <p:spPr>
          <a:xfrm>
            <a:off x="502920" y="336499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④ 智能体与执行链路 · 二稿</a:t>
            </a:r>
            <a:endParaRPr lang="en-US" sz="1150" dirty="0"/>
          </a:p>
        </p:txBody>
      </p:sp>
      <p:sp>
        <p:nvSpPr>
          <p:cNvPr id="236" name="st_3_w"/>
          <p:cNvSpPr/>
          <p:nvPr/>
        </p:nvSpPr>
        <p:spPr>
          <a:xfrm>
            <a:off x="2697480" y="336499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第1—5周</a:t>
            </a:r>
            <a:endParaRPr lang="en-US" sz="1050" dirty="0"/>
          </a:p>
        </p:txBody>
      </p:sp>
      <p:sp>
        <p:nvSpPr>
          <p:cNvPr id="237" name="bar_3"/>
          <p:cNvSpPr/>
          <p:nvPr/>
        </p:nvSpPr>
        <p:spPr>
          <a:xfrm>
            <a:off x="7899959" y="3429000"/>
            <a:ext cx="1008126" cy="237744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38" name="bar_3_t"/>
          <p:cNvSpPr/>
          <p:nvPr/>
        </p:nvSpPr>
        <p:spPr>
          <a:xfrm>
            <a:off x="7899959" y="3429000"/>
            <a:ext cx="100812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二稿</a:t>
            </a:r>
            <a:endParaRPr lang="en-US" sz="1050" dirty="0"/>
          </a:p>
        </p:txBody>
      </p:sp>
      <p:sp>
        <p:nvSpPr>
          <p:cNvPr id="239" name="row_rule_3_f"/>
          <p:cNvSpPr/>
          <p:nvPr/>
        </p:nvSpPr>
        <p:spPr>
          <a:xfrm>
            <a:off x="502920" y="3730752"/>
            <a:ext cx="6939839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40" name="row_rule_3_s"/>
          <p:cNvSpPr/>
          <p:nvPr/>
        </p:nvSpPr>
        <p:spPr>
          <a:xfrm>
            <a:off x="7899959" y="3730752"/>
            <a:ext cx="3831793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41" name="st_4"/>
          <p:cNvSpPr/>
          <p:nvPr/>
        </p:nvSpPr>
        <p:spPr>
          <a:xfrm>
            <a:off x="502920" y="373075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⑤ 测试、实验与答辩稿</a:t>
            </a:r>
            <a:endParaRPr lang="en-US" sz="1150" dirty="0"/>
          </a:p>
        </p:txBody>
      </p:sp>
      <p:sp>
        <p:nvSpPr>
          <p:cNvPr id="242" name="st_4_w"/>
          <p:cNvSpPr/>
          <p:nvPr/>
        </p:nvSpPr>
        <p:spPr>
          <a:xfrm>
            <a:off x="2697480" y="373075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第6—12周</a:t>
            </a:r>
            <a:endParaRPr lang="en-US" sz="1050" dirty="0"/>
          </a:p>
        </p:txBody>
      </p:sp>
      <p:sp>
        <p:nvSpPr>
          <p:cNvPr id="243" name="bar_4"/>
          <p:cNvSpPr/>
          <p:nvPr/>
        </p:nvSpPr>
        <p:spPr>
          <a:xfrm>
            <a:off x="8908085" y="3794760"/>
            <a:ext cx="1411376" cy="237744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44" name="bar_4_t"/>
          <p:cNvSpPr/>
          <p:nvPr/>
        </p:nvSpPr>
        <p:spPr>
          <a:xfrm>
            <a:off x="8908085" y="3794760"/>
            <a:ext cx="14113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 · 实验</a:t>
            </a:r>
            <a:endParaRPr lang="en-US" sz="1050" dirty="0"/>
          </a:p>
        </p:txBody>
      </p:sp>
      <p:sp>
        <p:nvSpPr>
          <p:cNvPr id="245" name="row_rule_4_f"/>
          <p:cNvSpPr/>
          <p:nvPr/>
        </p:nvSpPr>
        <p:spPr>
          <a:xfrm>
            <a:off x="502920" y="4096512"/>
            <a:ext cx="6939839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46" name="row_rule_4_s"/>
          <p:cNvSpPr/>
          <p:nvPr/>
        </p:nvSpPr>
        <p:spPr>
          <a:xfrm>
            <a:off x="7899959" y="4096512"/>
            <a:ext cx="3831793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47" name="st_5"/>
          <p:cNvSpPr/>
          <p:nvPr/>
        </p:nvSpPr>
        <p:spPr>
          <a:xfrm>
            <a:off x="502920" y="409651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⑥ 评阅与答辩</a:t>
            </a:r>
            <a:endParaRPr lang="en-US" sz="1150" dirty="0"/>
          </a:p>
        </p:txBody>
      </p:sp>
      <p:sp>
        <p:nvSpPr>
          <p:cNvPr id="248" name="st_5_w"/>
          <p:cNvSpPr/>
          <p:nvPr/>
        </p:nvSpPr>
        <p:spPr>
          <a:xfrm>
            <a:off x="2697480" y="409651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第13—15周</a:t>
            </a:r>
            <a:endParaRPr lang="en-US" sz="1050" dirty="0"/>
          </a:p>
        </p:txBody>
      </p:sp>
      <p:sp>
        <p:nvSpPr>
          <p:cNvPr id="249" name="bar_5"/>
          <p:cNvSpPr/>
          <p:nvPr/>
        </p:nvSpPr>
        <p:spPr>
          <a:xfrm>
            <a:off x="10319461" y="4160520"/>
            <a:ext cx="604876" cy="237744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50" name="bar_5_t"/>
          <p:cNvSpPr/>
          <p:nvPr/>
        </p:nvSpPr>
        <p:spPr>
          <a:xfrm>
            <a:off x="10319436" y="409651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答辩</a:t>
            </a:r>
            <a:endParaRPr lang="en-US" sz="1050" dirty="0"/>
          </a:p>
        </p:txBody>
      </p:sp>
      <p:sp>
        <p:nvSpPr>
          <p:cNvPr id="251" name="row_rule_5_f"/>
          <p:cNvSpPr/>
          <p:nvPr/>
        </p:nvSpPr>
        <p:spPr>
          <a:xfrm>
            <a:off x="502920" y="4462272"/>
            <a:ext cx="6939839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52" name="row_rule_5_s"/>
          <p:cNvSpPr/>
          <p:nvPr/>
        </p:nvSpPr>
        <p:spPr>
          <a:xfrm>
            <a:off x="7899959" y="4462272"/>
            <a:ext cx="3831793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53" name="st_6"/>
          <p:cNvSpPr/>
          <p:nvPr/>
        </p:nvSpPr>
        <p:spPr>
          <a:xfrm>
            <a:off x="502920" y="446227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⑦ 终稿提交与归档</a:t>
            </a:r>
            <a:endParaRPr lang="en-US" sz="1150" dirty="0"/>
          </a:p>
        </p:txBody>
      </p:sp>
      <p:sp>
        <p:nvSpPr>
          <p:cNvPr id="254" name="st_6_w"/>
          <p:cNvSpPr/>
          <p:nvPr/>
        </p:nvSpPr>
        <p:spPr>
          <a:xfrm>
            <a:off x="2697480" y="446227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0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第16—19周</a:t>
            </a:r>
            <a:endParaRPr lang="en-US" sz="1050" dirty="0"/>
          </a:p>
        </p:txBody>
      </p:sp>
      <p:sp>
        <p:nvSpPr>
          <p:cNvPr id="255" name="bar_6"/>
          <p:cNvSpPr/>
          <p:nvPr/>
        </p:nvSpPr>
        <p:spPr>
          <a:xfrm>
            <a:off x="10924337" y="4526280"/>
            <a:ext cx="806501" cy="237744"/>
          </a:xfrm>
          <a:prstGeom prst="rect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56" name="bar_6_t"/>
          <p:cNvSpPr/>
          <p:nvPr/>
        </p:nvSpPr>
        <p:spPr>
          <a:xfrm>
            <a:off x="10924337" y="4526280"/>
            <a:ext cx="806501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终稿</a:t>
            </a:r>
            <a:endParaRPr lang="en-US" sz="1050" dirty="0"/>
          </a:p>
        </p:txBody>
      </p:sp>
      <p:sp>
        <p:nvSpPr>
          <p:cNvPr id="257" name="row_rule_6_f"/>
          <p:cNvSpPr/>
          <p:nvPr/>
        </p:nvSpPr>
        <p:spPr>
          <a:xfrm>
            <a:off x="502920" y="4828032"/>
            <a:ext cx="6939839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58" name="row_rule_6_s"/>
          <p:cNvSpPr/>
          <p:nvPr/>
        </p:nvSpPr>
        <p:spPr>
          <a:xfrm>
            <a:off x="7899959" y="4828032"/>
            <a:ext cx="3831793" cy="0"/>
          </a:xfrm>
          <a:prstGeom prst="line">
            <a:avLst/>
          </a:prstGeom>
          <a:noFill/>
          <a:ln w="6350">
            <a:solidFill>
              <a:srgbClr val="A6B4B9"/>
            </a:solidFill>
            <a:prstDash val="solid"/>
          </a:ln>
        </p:spPr>
      </p:sp>
      <p:sp>
        <p:nvSpPr>
          <p:cNvPr id="259" name="now"/>
          <p:cNvSpPr/>
          <p:nvPr/>
        </p:nvSpPr>
        <p:spPr>
          <a:xfrm>
            <a:off x="5224882" y="1920240"/>
            <a:ext cx="0" cy="2953512"/>
          </a:xfrm>
          <a:prstGeom prst="line">
            <a:avLst/>
          </a:prstGeom>
          <a:noFill/>
          <a:ln w="22225">
            <a:solidFill>
              <a:srgbClr val="9B4D32"/>
            </a:solidFill>
            <a:prstDash val="solid"/>
          </a:ln>
        </p:spPr>
      </p:sp>
      <p:sp>
        <p:nvSpPr>
          <p:cNvPr id="260" name="now_t"/>
          <p:cNvSpPr/>
          <p:nvPr/>
        </p:nvSpPr>
        <p:spPr>
          <a:xfrm>
            <a:off x="5042002" y="488289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B4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当前：第8周开题</a:t>
            </a:r>
            <a:endParaRPr lang="en-US" sz="1150" dirty="0"/>
          </a:p>
        </p:txBody>
      </p:sp>
      <p:sp>
        <p:nvSpPr>
          <p:cNvPr id="261" name="out_title"/>
          <p:cNvSpPr/>
          <p:nvPr/>
        </p:nvSpPr>
        <p:spPr>
          <a:xfrm>
            <a:off x="502920" y="5330952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预期成果</a:t>
            </a:r>
            <a:endParaRPr lang="en-US" sz="1400" dirty="0"/>
          </a:p>
        </p:txBody>
      </p:sp>
      <p:sp>
        <p:nvSpPr>
          <p:cNvPr id="262" name="out_0"/>
          <p:cNvSpPr/>
          <p:nvPr/>
        </p:nvSpPr>
        <p:spPr>
          <a:xfrm>
            <a:off x="1737360" y="5303520"/>
            <a:ext cx="1852574" cy="530352"/>
          </a:xfrm>
          <a:prstGeom prst="foldedCorner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63" name="out_0_t"/>
          <p:cNvSpPr/>
          <p:nvPr/>
        </p:nvSpPr>
        <p:spPr>
          <a:xfrm>
            <a:off x="1737360" y="5303520"/>
            <a:ext cx="185257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原型系统</a:t>
            </a:r>
            <a:endParaRPr lang="en-US" sz="1150" dirty="0"/>
          </a:p>
        </p:txBody>
      </p:sp>
      <p:sp>
        <p:nvSpPr>
          <p:cNvPr id="264" name="out_1"/>
          <p:cNvSpPr/>
          <p:nvPr/>
        </p:nvSpPr>
        <p:spPr>
          <a:xfrm>
            <a:off x="3772814" y="5303520"/>
            <a:ext cx="1852574" cy="530352"/>
          </a:xfrm>
          <a:prstGeom prst="foldedCorner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65" name="out_1_t"/>
          <p:cNvSpPr/>
          <p:nvPr/>
        </p:nvSpPr>
        <p:spPr>
          <a:xfrm>
            <a:off x="3772814" y="5303520"/>
            <a:ext cx="185257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登记与接口规范</a:t>
            </a:r>
            <a:endParaRPr lang="en-US" sz="1150" dirty="0"/>
          </a:p>
        </p:txBody>
      </p:sp>
      <p:sp>
        <p:nvSpPr>
          <p:cNvPr id="266" name="out_2"/>
          <p:cNvSpPr/>
          <p:nvPr/>
        </p:nvSpPr>
        <p:spPr>
          <a:xfrm>
            <a:off x="5808269" y="5303520"/>
            <a:ext cx="1852574" cy="530352"/>
          </a:xfrm>
          <a:prstGeom prst="foldedCorner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67" name="out_2_t"/>
          <p:cNvSpPr/>
          <p:nvPr/>
        </p:nvSpPr>
        <p:spPr>
          <a:xfrm>
            <a:off x="5808269" y="5303520"/>
            <a:ext cx="185257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工程测试报告</a:t>
            </a:r>
            <a:endParaRPr lang="en-US" sz="1150" dirty="0"/>
          </a:p>
        </p:txBody>
      </p:sp>
      <p:sp>
        <p:nvSpPr>
          <p:cNvPr id="268" name="out_3"/>
          <p:cNvSpPr/>
          <p:nvPr/>
        </p:nvSpPr>
        <p:spPr>
          <a:xfrm>
            <a:off x="7843723" y="5303520"/>
            <a:ext cx="1852574" cy="530352"/>
          </a:xfrm>
          <a:prstGeom prst="foldedCorner">
            <a:avLst/>
          </a:prstGeom>
          <a:solidFill>
            <a:srgbClr val="FFFFFF"/>
          </a:solidFill>
          <a:ln w="12700">
            <a:solidFill>
              <a:srgbClr val="A6B4B9"/>
            </a:solidFill>
            <a:prstDash val="solid"/>
          </a:ln>
        </p:spPr>
      </p:sp>
      <p:sp>
        <p:nvSpPr>
          <p:cNvPr id="269" name="out_3_t"/>
          <p:cNvSpPr/>
          <p:nvPr/>
        </p:nvSpPr>
        <p:spPr>
          <a:xfrm>
            <a:off x="7843723" y="5303520"/>
            <a:ext cx="185257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36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冻结协议下的验证结论</a:t>
            </a:r>
            <a:endParaRPr lang="en-US" sz="1150" dirty="0"/>
          </a:p>
        </p:txBody>
      </p:sp>
      <p:sp>
        <p:nvSpPr>
          <p:cNvPr id="270" name="out_4"/>
          <p:cNvSpPr/>
          <p:nvPr/>
        </p:nvSpPr>
        <p:spPr>
          <a:xfrm>
            <a:off x="9879178" y="5303520"/>
            <a:ext cx="1852574" cy="530352"/>
          </a:xfrm>
          <a:prstGeom prst="foldedCorner">
            <a:avLst/>
          </a:prstGeom>
          <a:solidFill>
            <a:srgbClr val="EAF0F9"/>
          </a:solidFill>
          <a:ln w="12700">
            <a:solidFill>
              <a:srgbClr val="1E4FA8"/>
            </a:solidFill>
            <a:prstDash val="solid"/>
          </a:ln>
        </p:spPr>
      </p:sp>
      <p:sp>
        <p:nvSpPr>
          <p:cNvPr id="271" name="out_4_t"/>
          <p:cNvSpPr/>
          <p:nvPr/>
        </p:nvSpPr>
        <p:spPr>
          <a:xfrm>
            <a:off x="9879178" y="5303520"/>
            <a:ext cx="1852574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毕业论文</a:t>
            </a:r>
            <a:endParaRPr lang="en-US" sz="1150" dirty="0"/>
          </a:p>
        </p:txBody>
      </p:sp>
      <p:sp>
        <p:nvSpPr>
          <p:cNvPr id="272" name="out_note"/>
          <p:cNvSpPr/>
          <p:nvPr/>
        </p:nvSpPr>
        <p:spPr>
          <a:xfrm>
            <a:off x="1737360" y="6001512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5263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各阶段产出按上表逐步形成；成果均为预期，开题时尚未实施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38684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· </a:t>
            </a: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文献资料</a:t>
            </a:r>
            <a:r>
              <a:rPr lang="zh-CN" alt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</a:t>
            </a:r>
            <a:endParaRPr lang="zh-CN" altLang="en-US" sz="1800" b="1" dirty="0">
              <a:solidFill>
                <a:srgbClr val="FFFF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914400"/>
            <a:ext cx="11277600" cy="5415915"/>
          </a:xfrm>
          <a:prstGeom prst="rect">
            <a:avLst/>
          </a:prstGeom>
          <a:solidFill>
            <a:srgbClr val="EEF3FB"/>
          </a:solidFill>
        </p:spPr>
      </p:sp>
      <p:sp>
        <p:nvSpPr>
          <p:cNvPr id="11" name="Shape 8"/>
          <p:cNvSpPr/>
          <p:nvPr/>
        </p:nvSpPr>
        <p:spPr>
          <a:xfrm flipH="1">
            <a:off x="434975" y="914400"/>
            <a:ext cx="76200" cy="5412105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13" name="文本框 12"/>
          <p:cNvSpPr txBox="1"/>
          <p:nvPr/>
        </p:nvSpPr>
        <p:spPr>
          <a:xfrm>
            <a:off x="513080" y="989965"/>
            <a:ext cx="11221720" cy="5285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[1]Alansari, Aisha, and Hamzah Luqman. "Large Language Models Hallucination: A Comprehensive Survey." arXiv, 2025, https://arxiv.org/abs/2510.06    265.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[2]Bajoria, Sparsh, et al. "From Language Models to Agentic AI: A Survey of Autonomous, Action-Enabled, and Collaborative LLM Agents." Cognitive Computation, vol. 18, no. 1, 2026, article 103. https://doi.org/10.1007/s12559-026-10619-1.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[3]Boiko, Daniil A., et al. "Autonomous Chemical Research with Large Language Models." Nature, vol. 624, no. 7992, 2023, pp. 570-78. https://doi.org/10.1038/s41586-023-06792-0.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[4]Brown, Andrew, et al. "A Systematic Literature Review of Retrieval-Augmented Generation: Techniques, Metrics, and Challenges." arXiv, 2025, https://arxiv.org/abs/2508.06401.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[5]Chen, Ziru, et al. "ScienceAgentBench: Toward Rigorous Assessment of Language Agents for Data-Driven Scientific Discovery." Proceedings of the 13th International Conference on Learning Representations, 2025, pp. 12138-94. https://arxiv.org/abs/2410.05080.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[6]Gridach, Mourad, et al. "Agentic AI for Scientific Discovery: A Survey of Progress, Challenges, and Future Directions." arXiv, 2025, https://arxiv.org/abs/2503.08979.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[7]Lu, Chris, et al. "The AI Scientist: Towards Fully Automated Open-Ended Scientific Discovery." arXiv, 2024, https://arxiv.org/abs/2408.06292.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[8]Luo, Ziming, et al. "LLM4SR: A Survey on Large Language Models for Scientific Research." arXiv, 2025, https://arxiv.org/abs/2501.04306.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[9]Nosek, Brian A., et al. "The Preregistration Revolution." Proceedings of the National Academy of Sciences, vol. 115, no. 11, 2018, pp. 2600-06. https://doi.org/10.1073/pnas.1708274114.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[10]Peng, Roger D. "Reproducible Research in Computational Science." Science, vol. 334, no. 6060, 2011, pp. 1226-27. https://doi.org/10.1126/science.1213847.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[11]Souza, Renan, et al. "PROV-AGENT: Unified Provenance for Tracking AI Agent Interactions in Agentic Workflows." Proceedings of the 21st IEEE International Conference on e-Science, 2025. https://arxiv.org/abs/2508.02866.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[12]Xi, Zhiheng, et al. "The Rise and Potential of Large Language Model Based Agents: A Survey." Science China Information Sciences, vol. 68, no. 2, 2025, article 121101. https://doi.org/10.1007/s11432-024-4222-0.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[13]Zhang, Yue, et al. "Siren's Song in the AI Ocean: A Survey on Hallucination in Large Language Models." Computational Linguistics, vol. 51, no. 4, 2025, pp. 1373-418. https://doi.org/10.1162/coli.a.16.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[14]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董益宏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姜雪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钱家如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 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基于大语言模型智能体的代码生成综述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[J]. 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软件学报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2026, 37(8): 3089-3115. http://www.jos.org.cn/1000-9825/7593.htm.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 latinLnBrk="1">
              <a:lnSpc>
                <a:spcPts val="1500"/>
              </a:lnSpc>
            </a:pP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[15]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李自拓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孙建彬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陈广州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 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大语言模型幻觉检测方法综述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[J]. 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计算机研究与发展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2026, 63(1): 123-146. https://doi.org/10.7544/issn1000-1239.202550069.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4FA8"/>
          </a:solidFill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45720"/>
          </a:xfrm>
          <a:prstGeom prst="rect">
            <a:avLst/>
          </a:prstGeom>
          <a:solidFill>
            <a:srgbClr val="F2B705"/>
          </a:solidFill>
        </p:spPr>
      </p:sp>
      <p:sp>
        <p:nvSpPr>
          <p:cNvPr id="4" name="Text 2"/>
          <p:cNvSpPr/>
          <p:nvPr/>
        </p:nvSpPr>
        <p:spPr>
          <a:xfrm>
            <a:off x="457200" y="100584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致谢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46920" y="109728"/>
            <a:ext cx="213055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</p:spPr>
      </p:sp>
      <p:pic>
        <p:nvPicPr>
          <p:cNvPr id="6" name="Image 0" descr="/workspace/kaiti/research/img/logo_jis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46304"/>
            <a:ext cx="1762009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382512"/>
            <a:ext cx="11277295" cy="0"/>
          </a:xfrm>
          <a:prstGeom prst="line">
            <a:avLst/>
          </a:prstGeom>
          <a:noFill/>
          <a:ln w="9525">
            <a:solidFill>
              <a:srgbClr val="C9D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基于多源异构数据驱动的学术研究智能支持系统的设计与实现  |  开题答辩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20095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4F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000" dirty="0"/>
          </a:p>
        </p:txBody>
      </p:sp>
      <p:pic>
        <p:nvPicPr>
          <p:cNvPr id="40" name="Image 1" descr="/workspace/kaiti/research/img/campus_lake.png"/>
          <p:cNvPicPr>
            <a:picLocks noChangeAspect="1"/>
          </p:cNvPicPr>
          <p:nvPr/>
        </p:nvPicPr>
        <p:blipFill>
          <a:blip r:embed="rId2"/>
          <a:srcRect t="55000" b="14000"/>
          <a:stretch>
            <a:fillRect/>
          </a:stretch>
        </p:blipFill>
        <p:spPr>
          <a:xfrm>
            <a:off x="457200" y="4160520"/>
            <a:ext cx="11274552" cy="2057400"/>
          </a:xfrm>
          <a:prstGeom prst="rect">
            <a:avLst/>
          </a:prstGeom>
        </p:spPr>
      </p:pic>
      <p:sp>
        <p:nvSpPr>
          <p:cNvPr id="300" name="chrome_strip"/>
          <p:cNvSpPr/>
          <p:nvPr/>
        </p:nvSpPr>
        <p:spPr>
          <a:xfrm>
            <a:off x="457200" y="1185545"/>
            <a:ext cx="11277600" cy="1297305"/>
          </a:xfrm>
          <a:prstGeom prst="rect">
            <a:avLst/>
          </a:prstGeom>
          <a:solidFill>
            <a:srgbClr val="EEF3FB"/>
          </a:solidFill>
        </p:spPr>
        <p:txBody>
          <a:bodyPr/>
          <a:p>
            <a:endParaRPr lang="zh-CN" altLang="en-US"/>
          </a:p>
        </p:txBody>
      </p:sp>
      <p:sp>
        <p:nvSpPr>
          <p:cNvPr id="302" name="figure_title"/>
          <p:cNvSpPr/>
          <p:nvPr/>
        </p:nvSpPr>
        <p:spPr>
          <a:xfrm>
            <a:off x="713105" y="941705"/>
            <a:ext cx="10789920" cy="1804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致　谢</a:t>
            </a:r>
            <a:endParaRPr lang="en-US" sz="3200" dirty="0"/>
          </a:p>
        </p:txBody>
      </p:sp>
      <p:sp>
        <p:nvSpPr>
          <p:cNvPr id="333" name="thanks_main"/>
          <p:cNvSpPr/>
          <p:nvPr/>
        </p:nvSpPr>
        <p:spPr>
          <a:xfrm>
            <a:off x="457200" y="1783080"/>
            <a:ext cx="11274425" cy="23964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zh-CN" altLang="en-US" sz="36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恳请</a:t>
            </a:r>
            <a:r>
              <a:rPr lang="en-US" sz="3600" b="1" dirty="0">
                <a:solidFill>
                  <a:srgbClr val="0E3F8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各位老师批评指正</a:t>
            </a:r>
            <a:endParaRPr lang="en-US" sz="3600" dirty="0"/>
          </a:p>
        </p:txBody>
      </p:sp>
      <p:sp>
        <p:nvSpPr>
          <p:cNvPr id="336" name="thanks_t"/>
          <p:cNvSpPr/>
          <p:nvPr/>
        </p:nvSpPr>
        <p:spPr>
          <a:xfrm>
            <a:off x="4270248" y="297180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　谢！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Noto Sans CJK S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Noto Sans CJK S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Noto Sans CJK S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Noto Sans CJK S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7557</Words>
  <Application>WPS 演示</Application>
  <PresentationFormat>On-screen Show (16:9)</PresentationFormat>
  <Paragraphs>933</Paragraphs>
  <Slides>14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Noto Sans CJK SC</vt:lpstr>
      <vt:lpstr>Segoe Print</vt:lpstr>
      <vt:lpstr>Noto Sans CJK SC</vt:lpstr>
      <vt:lpstr>Noto Sans CJK SC</vt:lpstr>
      <vt:lpstr>Noto Sans CJK SC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基于多源异构数据驱动的学术研究智能支持系统的设计与实现</dc:title>
  <dc:creator>王俊博</dc:creator>
  <dc:subject>PptxGenJS Presentation</dc:subject>
  <cp:lastModifiedBy>森屿海巷@</cp:lastModifiedBy>
  <cp:revision>10</cp:revision>
  <dcterms:created xsi:type="dcterms:W3CDTF">2026-10-10T12:25:00Z</dcterms:created>
  <dcterms:modified xsi:type="dcterms:W3CDTF">2026-10-11T15:51:37Z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82113064F0964CFE82CE82175CBDBE43_12</vt:lpwstr>
  </property>
</Properties>
</file>